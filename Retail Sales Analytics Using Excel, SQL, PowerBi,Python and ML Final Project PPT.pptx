
<file path=[Content_Types].xml><?xml version="1.0" encoding="utf-8"?>
<Types xmlns="http://schemas.openxmlformats.org/package/2006/content-types">
  <Default Extension="tmp" ContentType="image/png"/>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4" r:id="rId1"/>
  </p:sldMasterIdLst>
  <p:notesMasterIdLst>
    <p:notesMasterId r:id="rId34"/>
  </p:notesMasterIdLst>
  <p:sldIdLst>
    <p:sldId id="256" r:id="rId2"/>
    <p:sldId id="258" r:id="rId3"/>
    <p:sldId id="259" r:id="rId4"/>
    <p:sldId id="260" r:id="rId5"/>
    <p:sldId id="261" r:id="rId6"/>
    <p:sldId id="262" r:id="rId7"/>
    <p:sldId id="283"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92" r:id="rId22"/>
    <p:sldId id="279" r:id="rId23"/>
    <p:sldId id="280" r:id="rId24"/>
    <p:sldId id="282" r:id="rId25"/>
    <p:sldId id="284" r:id="rId26"/>
    <p:sldId id="285" r:id="rId27"/>
    <p:sldId id="286" r:id="rId28"/>
    <p:sldId id="287" r:id="rId29"/>
    <p:sldId id="288" r:id="rId30"/>
    <p:sldId id="289" r:id="rId31"/>
    <p:sldId id="290" r:id="rId32"/>
    <p:sldId id="29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11E22E-7D02-43D8-9FDA-102AED13ED7E}" type="datetimeFigureOut">
              <a:rPr lang="en-IN" smtClean="0"/>
              <a:t>19-10-2025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6AE77-17AA-4131-9724-7A842AC778F1}" type="slidenum">
              <a:rPr lang="en-IN" smtClean="0"/>
              <a:t>‹#›</a:t>
            </a:fld>
            <a:endParaRPr lang="en-IN"/>
          </a:p>
        </p:txBody>
      </p:sp>
    </p:spTree>
    <p:extLst>
      <p:ext uri="{BB962C8B-B14F-4D97-AF65-F5344CB8AC3E}">
        <p14:creationId xmlns:p14="http://schemas.microsoft.com/office/powerpoint/2010/main" val="3765264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37C8-BB5A-444F-B833-94B69F5B32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487227-F0BF-40F8-B28B-ED0A01233B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3F33C8-FAC6-45AF-9952-FA5010717056}"/>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5" name="Footer Placeholder 4">
            <a:extLst>
              <a:ext uri="{FF2B5EF4-FFF2-40B4-BE49-F238E27FC236}">
                <a16:creationId xmlns:a16="http://schemas.microsoft.com/office/drawing/2014/main" id="{8DC842D2-2B53-497C-AF38-7A4E0A9DBF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343362-9438-4D32-959C-2A9A38502DE0}"/>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2807456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3BF9F-C84A-411B-BD57-926F2B638C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B5F573-B3BC-4636-AE16-B91FD5EA2D0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4A269E-E17B-483A-8394-2ABF0AEE1551}"/>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5" name="Footer Placeholder 4">
            <a:extLst>
              <a:ext uri="{FF2B5EF4-FFF2-40B4-BE49-F238E27FC236}">
                <a16:creationId xmlns:a16="http://schemas.microsoft.com/office/drawing/2014/main" id="{C756192F-C04E-4F0E-8FF0-C925981360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93257A-BA1A-4DC1-A415-770BC9B42DC9}"/>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806928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E1B-C761-4C26-BE93-23D66BFFEC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7CBFC3-8A51-4016-B171-04C8C286A6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3AF5F12-5620-47CF-8250-3B708D032F5F}"/>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5" name="Footer Placeholder 4">
            <a:extLst>
              <a:ext uri="{FF2B5EF4-FFF2-40B4-BE49-F238E27FC236}">
                <a16:creationId xmlns:a16="http://schemas.microsoft.com/office/drawing/2014/main" id="{53E02E5C-8FC6-4D15-AE36-1DBC7BDC4E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1E2BBD-FA09-4A85-9016-C8C1235D3BDB}"/>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147072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98FBB-F1E8-4267-BA96-8DDAE394A8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DBA98-FD22-4EDE-8044-4317A15E236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4B2CEDA-DB58-4C6C-8586-0FF77BD65EC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E36EE5-9F61-46ED-AE74-73A66ABA31DE}"/>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6" name="Footer Placeholder 5">
            <a:extLst>
              <a:ext uri="{FF2B5EF4-FFF2-40B4-BE49-F238E27FC236}">
                <a16:creationId xmlns:a16="http://schemas.microsoft.com/office/drawing/2014/main" id="{AC8F6DA2-3360-4083-A11A-402271DC4E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B8B4D8-45F3-4458-842F-34281A31B55E}"/>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2943159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63E44-EDB7-48EC-9FA9-CDEF055D85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99812B-5189-4F5A-831E-3DCFE98639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FB61851-9B6C-4489-BFF2-58AB2C89296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C185DC-C4A8-4137-A099-090864C6C9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0C9317-BD45-4BDD-BCDA-6B0A0207A4F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4A3955-CCF2-4587-8878-44D6561F69D0}"/>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8" name="Footer Placeholder 7">
            <a:extLst>
              <a:ext uri="{FF2B5EF4-FFF2-40B4-BE49-F238E27FC236}">
                <a16:creationId xmlns:a16="http://schemas.microsoft.com/office/drawing/2014/main" id="{06AD6A4C-2C59-4D72-AD45-CA174CA288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57846E-573E-430C-A4A8-3179DA3DC97C}"/>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1921893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BB514-BBCF-4DA3-AD74-BA3B2CA96A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B531E-EF91-49FA-A61E-19ADAB4FD6E1}"/>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4" name="Footer Placeholder 3">
            <a:extLst>
              <a:ext uri="{FF2B5EF4-FFF2-40B4-BE49-F238E27FC236}">
                <a16:creationId xmlns:a16="http://schemas.microsoft.com/office/drawing/2014/main" id="{C0403454-D7E0-40A2-9214-D8E51FE8C0F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D14AC35-E741-4111-AA50-56915FFEA67F}"/>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499320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634A32-B9AC-4098-A26A-1A94B5B7F590}"/>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3" name="Footer Placeholder 2">
            <a:extLst>
              <a:ext uri="{FF2B5EF4-FFF2-40B4-BE49-F238E27FC236}">
                <a16:creationId xmlns:a16="http://schemas.microsoft.com/office/drawing/2014/main" id="{A3DCC51C-538E-4365-9EC3-BDBC425FC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817580-355A-4CEA-A50A-445B091F885A}"/>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2548645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681F-D699-428B-8E8B-72F579B05E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7AA0C2-0DAA-4FAB-92A9-596C99324C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66C649-F133-4BAF-867D-5B1276F8B6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FAB7809-8609-45C6-B989-3AE3732652E4}"/>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6" name="Footer Placeholder 5">
            <a:extLst>
              <a:ext uri="{FF2B5EF4-FFF2-40B4-BE49-F238E27FC236}">
                <a16:creationId xmlns:a16="http://schemas.microsoft.com/office/drawing/2014/main" id="{385A58ED-7ABB-4F42-959A-79BB811037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1FEA29-2724-4042-9248-34DC81E4AC3C}"/>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573719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700A8-DF9B-493F-B349-05CFA125EA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ACFFC17-5F55-4FB6-A529-DEA0BB1CC0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F65AB7-2A3C-48ED-A6FD-63A56D02BB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4BF060-9FAD-4134-A9EC-87E94A7318B3}"/>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6" name="Footer Placeholder 5">
            <a:extLst>
              <a:ext uri="{FF2B5EF4-FFF2-40B4-BE49-F238E27FC236}">
                <a16:creationId xmlns:a16="http://schemas.microsoft.com/office/drawing/2014/main" id="{5DD7B736-371E-45A2-8C83-2CD98D8EE9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B0FA3-0634-4E8A-B026-D6BC184807FF}"/>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666130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5E19-63A9-4802-A76D-E0B3D1F1A8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CEDFEF-4E09-4EDE-AE67-CCE0E5D55E0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F497C7-C672-43D8-A183-A4E8FA1D9B70}"/>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5" name="Footer Placeholder 4">
            <a:extLst>
              <a:ext uri="{FF2B5EF4-FFF2-40B4-BE49-F238E27FC236}">
                <a16:creationId xmlns:a16="http://schemas.microsoft.com/office/drawing/2014/main" id="{B88A248C-0C54-4B86-A685-7DE6281126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D6B550-92B5-4F42-9061-C736C686D48B}"/>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1331371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C56F3B-6049-4BF1-A3E6-89337CB02F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09352D-4CCA-4B81-A15F-5B73A646BDC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EB3815-AC9B-4706-8C23-01A50D56976D}"/>
              </a:ext>
            </a:extLst>
          </p:cNvPr>
          <p:cNvSpPr>
            <a:spLocks noGrp="1"/>
          </p:cNvSpPr>
          <p:nvPr>
            <p:ph type="dt" sz="half" idx="10"/>
          </p:nvPr>
        </p:nvSpPr>
        <p:spPr/>
        <p:txBody>
          <a:bodyPr/>
          <a:lstStyle/>
          <a:p>
            <a:fld id="{E9F78355-73E9-4C0D-83A7-D808C4355EFC}" type="datetimeFigureOut">
              <a:rPr lang="en-IN" smtClean="0"/>
              <a:t>19-10-2025</a:t>
            </a:fld>
            <a:endParaRPr lang="en-IN"/>
          </a:p>
        </p:txBody>
      </p:sp>
      <p:sp>
        <p:nvSpPr>
          <p:cNvPr id="5" name="Footer Placeholder 4">
            <a:extLst>
              <a:ext uri="{FF2B5EF4-FFF2-40B4-BE49-F238E27FC236}">
                <a16:creationId xmlns:a16="http://schemas.microsoft.com/office/drawing/2014/main" id="{1EB03E12-5261-4061-80BA-7B74975D3A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92068B-B04B-4EFF-ADC3-F25041DFCCD8}"/>
              </a:ext>
            </a:extLst>
          </p:cNvPr>
          <p:cNvSpPr>
            <a:spLocks noGrp="1"/>
          </p:cNvSpPr>
          <p:nvPr>
            <p:ph type="sldNum" sz="quarter" idx="12"/>
          </p:nvPr>
        </p:nvSpPr>
        <p:spPr/>
        <p:txBody>
          <a:bodyPr/>
          <a:lstStyle/>
          <a:p>
            <a:fld id="{AF0564C9-2F64-4163-AFDE-03B2E7309D02}" type="slidenum">
              <a:rPr lang="en-IN" smtClean="0"/>
              <a:t>‹#›</a:t>
            </a:fld>
            <a:endParaRPr lang="en-IN"/>
          </a:p>
        </p:txBody>
      </p:sp>
    </p:spTree>
    <p:extLst>
      <p:ext uri="{BB962C8B-B14F-4D97-AF65-F5344CB8AC3E}">
        <p14:creationId xmlns:p14="http://schemas.microsoft.com/office/powerpoint/2010/main" val="3518452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1D3A27-23ED-4604-8DFF-0240C17FD6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C59738-A2E8-4C5E-B5BE-198914FECB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A13A87-D28C-4CF0-ACD1-B5E1B7FC01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F78355-73E9-4C0D-83A7-D808C4355EFC}" type="datetimeFigureOut">
              <a:rPr lang="en-IN" smtClean="0"/>
              <a:t>19-10-2025</a:t>
            </a:fld>
            <a:endParaRPr lang="en-IN"/>
          </a:p>
        </p:txBody>
      </p:sp>
      <p:sp>
        <p:nvSpPr>
          <p:cNvPr id="5" name="Footer Placeholder 4">
            <a:extLst>
              <a:ext uri="{FF2B5EF4-FFF2-40B4-BE49-F238E27FC236}">
                <a16:creationId xmlns:a16="http://schemas.microsoft.com/office/drawing/2014/main" id="{4C50C489-E4F3-4DD3-B0D9-4B781AAB82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CF8CA15-B189-4C39-B33E-7FED951D2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0564C9-2F64-4163-AFDE-03B2E7309D02}" type="slidenum">
              <a:rPr lang="en-IN" smtClean="0"/>
              <a:t>‹#›</a:t>
            </a:fld>
            <a:endParaRPr lang="en-IN"/>
          </a:p>
        </p:txBody>
      </p:sp>
    </p:spTree>
    <p:extLst>
      <p:ext uri="{BB962C8B-B14F-4D97-AF65-F5344CB8AC3E}">
        <p14:creationId xmlns:p14="http://schemas.microsoft.com/office/powerpoint/2010/main" val="561987019"/>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allpapersok.com/wallpapers/sales-digital-chart-nqk2bflsw5r1qxa6.html"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vecteezy.com/free-vector/blue-gradient-background"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vecteezy.com/free-vector/blue-gradient-background"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twitter.com/SQLServer/status/1592916659047538688"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allpaperaccess.com/microsoft-power-bi" TargetMode="External"/><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tmp"/><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DC4F00-FBF4-468B-84BC-79930032E02F}"/>
              </a:ext>
            </a:extLst>
          </p:cNvPr>
          <p:cNvSpPr txBox="1"/>
          <p:nvPr/>
        </p:nvSpPr>
        <p:spPr>
          <a:xfrm>
            <a:off x="172278" y="660880"/>
            <a:ext cx="7991061" cy="1015663"/>
          </a:xfrm>
          <a:prstGeom prst="rect">
            <a:avLst/>
          </a:prstGeom>
          <a:noFill/>
        </p:spPr>
        <p:txBody>
          <a:bodyPr wrap="square" rtlCol="0">
            <a:spAutoFit/>
          </a:bodyPr>
          <a:lstStyle/>
          <a:p>
            <a:r>
              <a:rPr lang="en-IN" sz="6000" dirty="0">
                <a:solidFill>
                  <a:schemeClr val="bg1"/>
                </a:solidFill>
                <a:latin typeface="Javanese Text" panose="02000000000000000000" pitchFamily="2" charset="0"/>
              </a:rPr>
              <a:t>Retail Sales Analytics</a:t>
            </a:r>
          </a:p>
        </p:txBody>
      </p:sp>
    </p:spTree>
    <p:extLst>
      <p:ext uri="{BB962C8B-B14F-4D97-AF65-F5344CB8AC3E}">
        <p14:creationId xmlns:p14="http://schemas.microsoft.com/office/powerpoint/2010/main" val="2358578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3000" b="-13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D9B1F-4887-4E2A-BAF6-7CF37FB29EEA}"/>
              </a:ext>
            </a:extLst>
          </p:cNvPr>
          <p:cNvSpPr txBox="1"/>
          <p:nvPr/>
        </p:nvSpPr>
        <p:spPr>
          <a:xfrm>
            <a:off x="3637722" y="530087"/>
            <a:ext cx="8786191" cy="707886"/>
          </a:xfrm>
          <a:prstGeom prst="rect">
            <a:avLst/>
          </a:prstGeom>
          <a:noFill/>
        </p:spPr>
        <p:txBody>
          <a:bodyPr wrap="square" rtlCol="0">
            <a:spAutoFit/>
          </a:bodyPr>
          <a:lstStyle/>
          <a:p>
            <a:r>
              <a:rPr lang="en-US" sz="4000" b="1" dirty="0">
                <a:solidFill>
                  <a:srgbClr val="002060"/>
                </a:solidFill>
                <a:latin typeface="Javanese Text" panose="02000000000000000000" pitchFamily="2" charset="0"/>
              </a:rPr>
              <a:t>Introduction</a:t>
            </a:r>
            <a:endParaRPr lang="en-IN" sz="4000" b="1" dirty="0">
              <a:solidFill>
                <a:srgbClr val="002060"/>
              </a:solidFill>
              <a:latin typeface="Javanese Text" panose="02000000000000000000" pitchFamily="2" charset="0"/>
            </a:endParaRPr>
          </a:p>
        </p:txBody>
      </p:sp>
      <p:sp>
        <p:nvSpPr>
          <p:cNvPr id="5" name="TextBox 4">
            <a:extLst>
              <a:ext uri="{FF2B5EF4-FFF2-40B4-BE49-F238E27FC236}">
                <a16:creationId xmlns:a16="http://schemas.microsoft.com/office/drawing/2014/main" id="{9745EE5F-DBF5-438C-AE77-1621127EEB92}"/>
              </a:ext>
            </a:extLst>
          </p:cNvPr>
          <p:cNvSpPr txBox="1"/>
          <p:nvPr/>
        </p:nvSpPr>
        <p:spPr>
          <a:xfrm>
            <a:off x="0" y="1555053"/>
            <a:ext cx="12192000" cy="3046988"/>
          </a:xfrm>
          <a:prstGeom prst="rect">
            <a:avLst/>
          </a:prstGeom>
          <a:noFill/>
        </p:spPr>
        <p:txBody>
          <a:bodyPr wrap="square" rtlCol="0">
            <a:spAutoFit/>
          </a:bodyPr>
          <a:lstStyle/>
          <a:p>
            <a:pPr algn="just"/>
            <a:r>
              <a:rPr lang="en-US" sz="3200" dirty="0">
                <a:latin typeface="Javanese Text" panose="02000000000000000000" pitchFamily="2" charset="0"/>
              </a:rPr>
              <a:t>This project focuses on performing comprehensive retail sales analytics by leveraging a combination of powerful data tools and techniques. The primary objective is to extract meaningful insights from retail sales data to understand customer behavior, identify sales trends, optimize inventory, and ultimately drive business growth.</a:t>
            </a:r>
            <a:endParaRPr lang="en-IN" sz="3200" dirty="0">
              <a:latin typeface="Javanese Text" panose="02000000000000000000" pitchFamily="2" charset="0"/>
            </a:endParaRPr>
          </a:p>
        </p:txBody>
      </p:sp>
    </p:spTree>
    <p:extLst>
      <p:ext uri="{BB962C8B-B14F-4D97-AF65-F5344CB8AC3E}">
        <p14:creationId xmlns:p14="http://schemas.microsoft.com/office/powerpoint/2010/main" val="1545004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3000" b="-13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52F254-CCD9-4513-B652-761A0DCEF906}"/>
              </a:ext>
            </a:extLst>
          </p:cNvPr>
          <p:cNvSpPr txBox="1"/>
          <p:nvPr/>
        </p:nvSpPr>
        <p:spPr>
          <a:xfrm>
            <a:off x="3352799" y="463826"/>
            <a:ext cx="6957392" cy="646331"/>
          </a:xfrm>
          <a:prstGeom prst="rect">
            <a:avLst/>
          </a:prstGeom>
          <a:noFill/>
        </p:spPr>
        <p:txBody>
          <a:bodyPr wrap="square" rtlCol="0">
            <a:spAutoFit/>
          </a:bodyPr>
          <a:lstStyle/>
          <a:p>
            <a:r>
              <a:rPr lang="en-IN" sz="3600" b="1" dirty="0">
                <a:solidFill>
                  <a:srgbClr val="002060"/>
                </a:solidFill>
                <a:latin typeface="Javanese Text" panose="02000000000000000000" pitchFamily="2" charset="0"/>
              </a:rPr>
              <a:t>Business Use Cases</a:t>
            </a:r>
          </a:p>
        </p:txBody>
      </p:sp>
      <p:sp>
        <p:nvSpPr>
          <p:cNvPr id="5" name="TextBox 4">
            <a:extLst>
              <a:ext uri="{FF2B5EF4-FFF2-40B4-BE49-F238E27FC236}">
                <a16:creationId xmlns:a16="http://schemas.microsoft.com/office/drawing/2014/main" id="{0CE896DF-04D4-4CBD-A5AB-B346BFCB0BB8}"/>
              </a:ext>
            </a:extLst>
          </p:cNvPr>
          <p:cNvSpPr txBox="1"/>
          <p:nvPr/>
        </p:nvSpPr>
        <p:spPr>
          <a:xfrm>
            <a:off x="0" y="1470991"/>
            <a:ext cx="12192000" cy="2246769"/>
          </a:xfrm>
          <a:prstGeom prst="rect">
            <a:avLst/>
          </a:prstGeom>
          <a:noFill/>
        </p:spPr>
        <p:txBody>
          <a:bodyPr wrap="square" rtlCol="0">
            <a:spAutoFit/>
          </a:bodyPr>
          <a:lstStyle/>
          <a:p>
            <a:pPr marL="342900" indent="-342900">
              <a:buFont typeface="Wingdings" panose="05000000000000000000" pitchFamily="2" charset="2"/>
              <a:buChar char="v"/>
            </a:pPr>
            <a:r>
              <a:rPr lang="en-IN" sz="2800" dirty="0">
                <a:latin typeface="Javanese Text" panose="02000000000000000000" pitchFamily="2" charset="0"/>
              </a:rPr>
              <a:t> To Analyse sales performance across different stores and staff.</a:t>
            </a:r>
          </a:p>
          <a:p>
            <a:pPr marL="514350" indent="-514350">
              <a:buFont typeface="Wingdings" panose="05000000000000000000" pitchFamily="2" charset="2"/>
              <a:buChar char="v"/>
            </a:pPr>
            <a:r>
              <a:rPr lang="en-IN" sz="2800" dirty="0">
                <a:latin typeface="Javanese Text" panose="02000000000000000000" pitchFamily="2" charset="0"/>
              </a:rPr>
              <a:t>Identify high-value customers and buying behaviour patterns.</a:t>
            </a:r>
          </a:p>
          <a:p>
            <a:pPr marL="514350" indent="-514350">
              <a:buFont typeface="Wingdings" panose="05000000000000000000" pitchFamily="2" charset="2"/>
              <a:buChar char="v"/>
            </a:pPr>
            <a:r>
              <a:rPr lang="en-IN" sz="2800" dirty="0">
                <a:latin typeface="Javanese Text" panose="02000000000000000000" pitchFamily="2" charset="0"/>
              </a:rPr>
              <a:t>Perform customer segmentation for targeted marketing.</a:t>
            </a:r>
          </a:p>
          <a:p>
            <a:pPr marL="514350" indent="-514350">
              <a:buFont typeface="Wingdings" panose="05000000000000000000" pitchFamily="2" charset="2"/>
              <a:buChar char="v"/>
            </a:pPr>
            <a:r>
              <a:rPr lang="en-IN" sz="2800" dirty="0">
                <a:latin typeface="Javanese Text" panose="02000000000000000000" pitchFamily="2" charset="0"/>
              </a:rPr>
              <a:t>Monitor inventory levels and product performance.</a:t>
            </a:r>
          </a:p>
          <a:p>
            <a:pPr marL="514350" indent="-514350">
              <a:buFont typeface="Wingdings" panose="05000000000000000000" pitchFamily="2" charset="2"/>
              <a:buChar char="v"/>
            </a:pPr>
            <a:r>
              <a:rPr lang="en-IN" sz="2800" dirty="0">
                <a:latin typeface="Javanese Text" panose="02000000000000000000" pitchFamily="2" charset="0"/>
              </a:rPr>
              <a:t>Create an interactive Power BI dashboard for management insights.</a:t>
            </a:r>
          </a:p>
        </p:txBody>
      </p:sp>
    </p:spTree>
    <p:extLst>
      <p:ext uri="{BB962C8B-B14F-4D97-AF65-F5344CB8AC3E}">
        <p14:creationId xmlns:p14="http://schemas.microsoft.com/office/powerpoint/2010/main" val="365203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5D61D9-9E6F-48E5-98AF-789C23FF6B2F}"/>
              </a:ext>
            </a:extLst>
          </p:cNvPr>
          <p:cNvSpPr txBox="1"/>
          <p:nvPr/>
        </p:nvSpPr>
        <p:spPr>
          <a:xfrm>
            <a:off x="2657061" y="460969"/>
            <a:ext cx="7195930" cy="584775"/>
          </a:xfrm>
          <a:prstGeom prst="rect">
            <a:avLst/>
          </a:prstGeom>
          <a:noFill/>
        </p:spPr>
        <p:txBody>
          <a:bodyPr wrap="square" rtlCol="0">
            <a:spAutoFit/>
          </a:bodyPr>
          <a:lstStyle/>
          <a:p>
            <a:r>
              <a:rPr lang="en-IN" sz="3200" b="1" dirty="0">
                <a:solidFill>
                  <a:srgbClr val="002060"/>
                </a:solidFill>
                <a:latin typeface="Javanese Text" panose="02000000000000000000" pitchFamily="2" charset="0"/>
              </a:rPr>
              <a:t>Excel – Data Cleaning &amp; Preparation</a:t>
            </a:r>
          </a:p>
        </p:txBody>
      </p:sp>
      <p:sp>
        <p:nvSpPr>
          <p:cNvPr id="2" name="TextBox 1">
            <a:extLst>
              <a:ext uri="{FF2B5EF4-FFF2-40B4-BE49-F238E27FC236}">
                <a16:creationId xmlns:a16="http://schemas.microsoft.com/office/drawing/2014/main" id="{ACA68CA6-BFA1-404C-971F-60747BFC6EC7}"/>
              </a:ext>
            </a:extLst>
          </p:cNvPr>
          <p:cNvSpPr txBox="1"/>
          <p:nvPr/>
        </p:nvSpPr>
        <p:spPr>
          <a:xfrm>
            <a:off x="0" y="1450064"/>
            <a:ext cx="6851374" cy="738664"/>
          </a:xfrm>
          <a:prstGeom prst="rect">
            <a:avLst/>
          </a:prstGeom>
          <a:noFill/>
        </p:spPr>
        <p:txBody>
          <a:bodyPr wrap="square" rtlCol="0">
            <a:spAutoFit/>
          </a:bodyPr>
          <a:lstStyle/>
          <a:p>
            <a:pPr marL="342900" indent="-342900">
              <a:buAutoNum type="arabicPeriod"/>
            </a:pPr>
            <a:r>
              <a:rPr lang="en-IN" sz="2400" b="1" dirty="0">
                <a:solidFill>
                  <a:srgbClr val="002060"/>
                </a:solidFill>
                <a:latin typeface="Javanese Text" panose="02000000000000000000" pitchFamily="2" charset="0"/>
              </a:rPr>
              <a:t>Standardize Column Headers</a:t>
            </a:r>
          </a:p>
          <a:p>
            <a:pPr marL="342900" indent="-342900">
              <a:buAutoNum type="arabicPeriod"/>
            </a:pPr>
            <a:endParaRPr lang="en-IN" dirty="0"/>
          </a:p>
        </p:txBody>
      </p:sp>
      <p:sp>
        <p:nvSpPr>
          <p:cNvPr id="3" name="TextBox 2">
            <a:extLst>
              <a:ext uri="{FF2B5EF4-FFF2-40B4-BE49-F238E27FC236}">
                <a16:creationId xmlns:a16="http://schemas.microsoft.com/office/drawing/2014/main" id="{AA890332-585C-4C51-915D-7F90B6DEB482}"/>
              </a:ext>
            </a:extLst>
          </p:cNvPr>
          <p:cNvSpPr txBox="1"/>
          <p:nvPr/>
        </p:nvSpPr>
        <p:spPr>
          <a:xfrm>
            <a:off x="0" y="1984703"/>
            <a:ext cx="11383618" cy="984885"/>
          </a:xfrm>
          <a:prstGeom prst="rect">
            <a:avLst/>
          </a:prstGeom>
          <a:noFill/>
        </p:spPr>
        <p:txBody>
          <a:bodyPr wrap="square" rtlCol="0">
            <a:spAutoFit/>
          </a:bodyPr>
          <a:lstStyle/>
          <a:p>
            <a:pPr marL="342900" indent="-342900">
              <a:buFont typeface="Wingdings" panose="05000000000000000000" pitchFamily="2" charset="2"/>
              <a:buChar char="v"/>
            </a:pPr>
            <a:r>
              <a:rPr lang="en-US" sz="2000" dirty="0">
                <a:latin typeface="Javanese Text" panose="02000000000000000000" pitchFamily="2" charset="0"/>
              </a:rPr>
              <a:t>Standardize Column Headers means renaming all column names into a consistent format.</a:t>
            </a:r>
          </a:p>
          <a:p>
            <a:pPr marL="342900" indent="-34290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All the column headers have been updated in snake _ case format for all the datasets across sheets.</a:t>
            </a:r>
          </a:p>
          <a:p>
            <a:endParaRPr lang="en-IN" dirty="0"/>
          </a:p>
        </p:txBody>
      </p:sp>
      <p:sp>
        <p:nvSpPr>
          <p:cNvPr id="5" name="TextBox 4">
            <a:extLst>
              <a:ext uri="{FF2B5EF4-FFF2-40B4-BE49-F238E27FC236}">
                <a16:creationId xmlns:a16="http://schemas.microsoft.com/office/drawing/2014/main" id="{28FB3F19-11D7-4D6B-805D-06B1EFDB86A0}"/>
              </a:ext>
            </a:extLst>
          </p:cNvPr>
          <p:cNvSpPr txBox="1"/>
          <p:nvPr/>
        </p:nvSpPr>
        <p:spPr>
          <a:xfrm>
            <a:off x="0" y="2969588"/>
            <a:ext cx="12192000" cy="1354217"/>
          </a:xfrm>
          <a:prstGeom prst="rect">
            <a:avLst/>
          </a:prstGeom>
          <a:noFill/>
        </p:spPr>
        <p:txBody>
          <a:bodyPr wrap="square" rtlCol="0">
            <a:spAutoFit/>
          </a:bodyPr>
          <a:lstStyle/>
          <a:p>
            <a:r>
              <a:rPr lang="en-IN" sz="2800" b="1" dirty="0">
                <a:solidFill>
                  <a:srgbClr val="002060"/>
                </a:solidFill>
                <a:latin typeface="Javanese Text" panose="02000000000000000000" pitchFamily="2" charset="0"/>
              </a:rPr>
              <a:t>2</a:t>
            </a:r>
            <a:r>
              <a:rPr lang="en-IN" sz="2400" b="1" dirty="0">
                <a:solidFill>
                  <a:srgbClr val="002060"/>
                </a:solidFill>
                <a:latin typeface="Javanese Text" panose="02000000000000000000" pitchFamily="2" charset="0"/>
              </a:rPr>
              <a:t>. </a:t>
            </a:r>
            <a:r>
              <a:rPr lang="en-IN" sz="2800" b="1" dirty="0">
                <a:solidFill>
                  <a:srgbClr val="002060"/>
                </a:solidFill>
                <a:latin typeface="Javanese Text" panose="02000000000000000000" pitchFamily="2" charset="0"/>
              </a:rPr>
              <a:t>Remove Duplicates</a:t>
            </a:r>
            <a:endParaRPr lang="en-IN" sz="2400" b="1" dirty="0">
              <a:solidFill>
                <a:srgbClr val="002060"/>
              </a:solidFill>
              <a:latin typeface="Javanese Text" panose="02000000000000000000" pitchFamily="2" charset="0"/>
            </a:endParaRPr>
          </a:p>
          <a:p>
            <a:pPr marL="285750" indent="-285750">
              <a:buFont typeface="Wingdings" panose="05000000000000000000" pitchFamily="2" charset="2"/>
              <a:buChar char="v"/>
            </a:pPr>
            <a:r>
              <a:rPr lang="en-US" dirty="0">
                <a:latin typeface="Javanese Text" panose="02000000000000000000" pitchFamily="2" charset="0"/>
              </a:rPr>
              <a:t>Remove Duplicates means eliminating repeated rows or values from a dataset so that each record appears only once.</a:t>
            </a:r>
          </a:p>
          <a:p>
            <a:pPr marL="285750" indent="-285750">
              <a:buFont typeface="Wingdings" panose="05000000000000000000" pitchFamily="2" charset="2"/>
              <a:buChar char="v"/>
            </a:pPr>
            <a:r>
              <a:rPr lang="en-US" dirty="0">
                <a:solidFill>
                  <a:srgbClr val="000000"/>
                </a:solidFill>
                <a:latin typeface="Javanese Text" panose="02000000000000000000" pitchFamily="2" charset="0"/>
                <a:ea typeface="Koho"/>
                <a:cs typeface="Koho"/>
                <a:sym typeface="Koho"/>
              </a:rPr>
              <a:t>No duplicate records found in the entire dataset which has been verified through the conditional formatting</a:t>
            </a:r>
            <a:r>
              <a:rPr lang="en-US" sz="2000" dirty="0">
                <a:solidFill>
                  <a:srgbClr val="000000"/>
                </a:solidFill>
                <a:latin typeface="Javanese Text" panose="02000000000000000000" pitchFamily="2" charset="0"/>
                <a:ea typeface="Koho"/>
                <a:cs typeface="Koho"/>
                <a:sym typeface="Koho"/>
              </a:rPr>
              <a:t>.</a:t>
            </a:r>
            <a:endParaRPr lang="en-IN" sz="2000" dirty="0">
              <a:latin typeface="Javanese Text" panose="02000000000000000000" pitchFamily="2" charset="0"/>
            </a:endParaRPr>
          </a:p>
          <a:p>
            <a:endParaRPr lang="en-IN" sz="1600" dirty="0"/>
          </a:p>
        </p:txBody>
      </p:sp>
      <p:sp>
        <p:nvSpPr>
          <p:cNvPr id="6" name="TextBox 5">
            <a:extLst>
              <a:ext uri="{FF2B5EF4-FFF2-40B4-BE49-F238E27FC236}">
                <a16:creationId xmlns:a16="http://schemas.microsoft.com/office/drawing/2014/main" id="{7CBE76EB-87E5-4739-8F01-8534FD999171}"/>
              </a:ext>
            </a:extLst>
          </p:cNvPr>
          <p:cNvSpPr txBox="1"/>
          <p:nvPr/>
        </p:nvSpPr>
        <p:spPr>
          <a:xfrm>
            <a:off x="0" y="4427261"/>
            <a:ext cx="11608904" cy="1969770"/>
          </a:xfrm>
          <a:prstGeom prst="rect">
            <a:avLst/>
          </a:prstGeom>
          <a:noFill/>
        </p:spPr>
        <p:txBody>
          <a:bodyPr wrap="square" rtlCol="0">
            <a:spAutoFit/>
          </a:bodyPr>
          <a:lstStyle/>
          <a:p>
            <a:r>
              <a:rPr lang="en-IN" sz="2400" b="1" dirty="0">
                <a:solidFill>
                  <a:srgbClr val="002060"/>
                </a:solidFill>
                <a:latin typeface="Javanese Text" panose="02000000000000000000" pitchFamily="2" charset="0"/>
              </a:rPr>
              <a:t>3. Handle Missing Values</a:t>
            </a:r>
          </a:p>
          <a:p>
            <a:pPr marL="342900" indent="-342900">
              <a:buFont typeface="Wingdings" panose="05000000000000000000" pitchFamily="2" charset="2"/>
              <a:buChar char="v"/>
            </a:pPr>
            <a:r>
              <a:rPr lang="en-US" sz="2000" dirty="0">
                <a:latin typeface="Javanese Text" panose="02000000000000000000" pitchFamily="2" charset="0"/>
              </a:rPr>
              <a:t>Handle Missing Values means dealing with blank or null data in a dataset.</a:t>
            </a:r>
          </a:p>
          <a:p>
            <a:pPr marL="342900" indent="-34290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Null values found in multiple datasets where as manager_id is missing for one staff, shipped_date is missing for few orders and phone numbers are missing for few customers and replaced all the null values with NA.</a:t>
            </a:r>
          </a:p>
          <a:p>
            <a:endParaRPr lang="en-IN" dirty="0"/>
          </a:p>
        </p:txBody>
      </p:sp>
      <p:sp>
        <p:nvSpPr>
          <p:cNvPr id="7" name="TextBox 6">
            <a:extLst>
              <a:ext uri="{FF2B5EF4-FFF2-40B4-BE49-F238E27FC236}">
                <a16:creationId xmlns:a16="http://schemas.microsoft.com/office/drawing/2014/main" id="{65E9FCAD-3205-47F7-BF29-6E54989081AB}"/>
              </a:ext>
            </a:extLst>
          </p:cNvPr>
          <p:cNvSpPr txBox="1"/>
          <p:nvPr/>
        </p:nvSpPr>
        <p:spPr>
          <a:xfrm>
            <a:off x="1" y="5272836"/>
            <a:ext cx="12191999" cy="646331"/>
          </a:xfrm>
          <a:prstGeom prst="rect">
            <a:avLst/>
          </a:prstGeom>
          <a:noFill/>
        </p:spPr>
        <p:txBody>
          <a:bodyPr wrap="square" rtlCol="0">
            <a:spAutoFit/>
          </a:bodyPr>
          <a:lstStyle/>
          <a:p>
            <a:endParaRPr lang="en-IN" dirty="0"/>
          </a:p>
          <a:p>
            <a:endParaRPr lang="en-IN" dirty="0"/>
          </a:p>
        </p:txBody>
      </p:sp>
    </p:spTree>
    <p:extLst>
      <p:ext uri="{BB962C8B-B14F-4D97-AF65-F5344CB8AC3E}">
        <p14:creationId xmlns:p14="http://schemas.microsoft.com/office/powerpoint/2010/main" val="2742253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38F6D5-0E8F-4D9C-9DE7-40A50F787ACA}"/>
              </a:ext>
            </a:extLst>
          </p:cNvPr>
          <p:cNvSpPr txBox="1"/>
          <p:nvPr/>
        </p:nvSpPr>
        <p:spPr>
          <a:xfrm>
            <a:off x="0" y="384313"/>
            <a:ext cx="11701670" cy="1723549"/>
          </a:xfrm>
          <a:prstGeom prst="rect">
            <a:avLst/>
          </a:prstGeom>
          <a:noFill/>
        </p:spPr>
        <p:txBody>
          <a:bodyPr wrap="square" rtlCol="0">
            <a:spAutoFit/>
          </a:bodyPr>
          <a:lstStyle/>
          <a:p>
            <a:r>
              <a:rPr lang="en-IN" sz="2800" b="1" dirty="0">
                <a:solidFill>
                  <a:srgbClr val="002060"/>
                </a:solidFill>
                <a:latin typeface="Javanese Text" panose="02000000000000000000" pitchFamily="2" charset="0"/>
              </a:rPr>
              <a:t>4</a:t>
            </a:r>
            <a:r>
              <a:rPr lang="en-IN" sz="2400" b="1" dirty="0">
                <a:solidFill>
                  <a:srgbClr val="002060"/>
                </a:solidFill>
                <a:latin typeface="Javanese Text" panose="02000000000000000000" pitchFamily="2" charset="0"/>
              </a:rPr>
              <a:t>. </a:t>
            </a:r>
            <a:r>
              <a:rPr lang="en-IN" sz="2800" b="1" dirty="0">
                <a:solidFill>
                  <a:srgbClr val="002060"/>
                </a:solidFill>
                <a:latin typeface="Javanese Text" panose="02000000000000000000" pitchFamily="2" charset="0"/>
              </a:rPr>
              <a:t>Data Type Conversion</a:t>
            </a:r>
            <a:endParaRPr lang="en-IN" b="1" dirty="0">
              <a:solidFill>
                <a:srgbClr val="002060"/>
              </a:solidFill>
              <a:latin typeface="Javanese Text" panose="02000000000000000000" pitchFamily="2" charset="0"/>
            </a:endParaRP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All the date column datatypes have been converted to the standard excel date format.</a:t>
            </a: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Numerical fields like quantity, price are updated in the number format. Like wise, text formats have been also updated.</a:t>
            </a:r>
          </a:p>
          <a:p>
            <a:endParaRPr lang="en-IN" dirty="0"/>
          </a:p>
        </p:txBody>
      </p:sp>
      <p:sp>
        <p:nvSpPr>
          <p:cNvPr id="5" name="TextBox 4">
            <a:extLst>
              <a:ext uri="{FF2B5EF4-FFF2-40B4-BE49-F238E27FC236}">
                <a16:creationId xmlns:a16="http://schemas.microsoft.com/office/drawing/2014/main" id="{543C1664-F5EE-494C-8B36-4ACF16BFC8D7}"/>
              </a:ext>
            </a:extLst>
          </p:cNvPr>
          <p:cNvSpPr txBox="1"/>
          <p:nvPr/>
        </p:nvSpPr>
        <p:spPr>
          <a:xfrm>
            <a:off x="185530" y="2252870"/>
            <a:ext cx="4479235" cy="523220"/>
          </a:xfrm>
          <a:prstGeom prst="rect">
            <a:avLst/>
          </a:prstGeom>
          <a:noFill/>
        </p:spPr>
        <p:txBody>
          <a:bodyPr wrap="square" rtlCol="0">
            <a:spAutoFit/>
          </a:bodyPr>
          <a:lstStyle/>
          <a:p>
            <a:r>
              <a:rPr lang="en-IN" sz="2800" b="1" dirty="0">
                <a:solidFill>
                  <a:srgbClr val="002060"/>
                </a:solidFill>
                <a:latin typeface="Javanese Text" panose="02000000000000000000" pitchFamily="2" charset="0"/>
              </a:rPr>
              <a:t>5. Data Validation</a:t>
            </a:r>
          </a:p>
        </p:txBody>
      </p:sp>
      <p:sp>
        <p:nvSpPr>
          <p:cNvPr id="6" name="TextBox 5">
            <a:extLst>
              <a:ext uri="{FF2B5EF4-FFF2-40B4-BE49-F238E27FC236}">
                <a16:creationId xmlns:a16="http://schemas.microsoft.com/office/drawing/2014/main" id="{B7C683CA-B055-4F5B-8A99-377D37A2C30C}"/>
              </a:ext>
            </a:extLst>
          </p:cNvPr>
          <p:cNvSpPr txBox="1"/>
          <p:nvPr/>
        </p:nvSpPr>
        <p:spPr>
          <a:xfrm>
            <a:off x="106016" y="2921098"/>
            <a:ext cx="12085983" cy="1600438"/>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Javanese Text" panose="02000000000000000000" pitchFamily="2" charset="0"/>
              </a:rPr>
              <a:t>Data Validation is the process of setting rules in Excel to control what type of data can be entered into a cell.</a:t>
            </a: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Dropdown for order_status has been created using data validation list method to ensure consistency with the options (Delivered, Shipped, Processing, Packed).</a:t>
            </a:r>
          </a:p>
          <a:p>
            <a:endParaRPr lang="en-IN" dirty="0"/>
          </a:p>
        </p:txBody>
      </p:sp>
      <p:sp>
        <p:nvSpPr>
          <p:cNvPr id="7" name="TextBox 6">
            <a:extLst>
              <a:ext uri="{FF2B5EF4-FFF2-40B4-BE49-F238E27FC236}">
                <a16:creationId xmlns:a16="http://schemas.microsoft.com/office/drawing/2014/main" id="{9EE81F9A-6ABC-4C26-9787-33B5F6850704}"/>
              </a:ext>
            </a:extLst>
          </p:cNvPr>
          <p:cNvSpPr txBox="1"/>
          <p:nvPr/>
        </p:nvSpPr>
        <p:spPr>
          <a:xfrm>
            <a:off x="106016" y="4704522"/>
            <a:ext cx="7248941" cy="461665"/>
          </a:xfrm>
          <a:prstGeom prst="rect">
            <a:avLst/>
          </a:prstGeom>
          <a:noFill/>
        </p:spPr>
        <p:txBody>
          <a:bodyPr wrap="square" rtlCol="0">
            <a:spAutoFit/>
          </a:bodyPr>
          <a:lstStyle/>
          <a:p>
            <a:r>
              <a:rPr lang="en-US" sz="2400" b="1" dirty="0">
                <a:solidFill>
                  <a:srgbClr val="002060"/>
                </a:solidFill>
              </a:rPr>
              <a:t>6. Create New Derived Columns</a:t>
            </a:r>
            <a:endParaRPr lang="en-IN" sz="2400" b="1" dirty="0">
              <a:solidFill>
                <a:srgbClr val="002060"/>
              </a:solidFill>
            </a:endParaRPr>
          </a:p>
        </p:txBody>
      </p:sp>
      <p:sp>
        <p:nvSpPr>
          <p:cNvPr id="8" name="TextBox 7">
            <a:extLst>
              <a:ext uri="{FF2B5EF4-FFF2-40B4-BE49-F238E27FC236}">
                <a16:creationId xmlns:a16="http://schemas.microsoft.com/office/drawing/2014/main" id="{E0293C93-DEE8-46B2-AFE9-6C5D37EB274E}"/>
              </a:ext>
            </a:extLst>
          </p:cNvPr>
          <p:cNvSpPr txBox="1"/>
          <p:nvPr/>
        </p:nvSpPr>
        <p:spPr>
          <a:xfrm>
            <a:off x="0" y="5361561"/>
            <a:ext cx="12085983" cy="923330"/>
          </a:xfrm>
          <a:prstGeom prst="rect">
            <a:avLst/>
          </a:prstGeom>
          <a:noFill/>
        </p:spPr>
        <p:txBody>
          <a:bodyPr wrap="square" rtlCol="0">
            <a:spAutoFit/>
          </a:bodyPr>
          <a:lstStyle/>
          <a:p>
            <a:pPr marL="285750" indent="-285750">
              <a:buFont typeface="Wingdings" panose="05000000000000000000" pitchFamily="2" charset="2"/>
              <a:buChar char="v"/>
            </a:pPr>
            <a:r>
              <a:rPr lang="en-US" dirty="0"/>
              <a:t>Create New Derived Columns means adding extra columns to a dataset by applying formulas or calculations on existing data.</a:t>
            </a:r>
          </a:p>
          <a:p>
            <a:r>
              <a:rPr lang="en-US" dirty="0">
                <a:solidFill>
                  <a:srgbClr val="000000"/>
                </a:solidFill>
                <a:latin typeface="Koho"/>
                <a:ea typeface="Koho"/>
                <a:cs typeface="Koho"/>
                <a:sym typeface="Koho"/>
              </a:rPr>
              <a:t>      using the below-mentioned formula.</a:t>
            </a:r>
            <a:endParaRPr lang="en-US" dirty="0"/>
          </a:p>
          <a:p>
            <a:endParaRPr lang="en-IN" dirty="0"/>
          </a:p>
        </p:txBody>
      </p:sp>
      <p:sp>
        <p:nvSpPr>
          <p:cNvPr id="9" name="Rectangle: Rounded Corners 8">
            <a:extLst>
              <a:ext uri="{FF2B5EF4-FFF2-40B4-BE49-F238E27FC236}">
                <a16:creationId xmlns:a16="http://schemas.microsoft.com/office/drawing/2014/main" id="{07397CAD-A33A-4D78-8B03-04E515FEF26C}"/>
              </a:ext>
            </a:extLst>
          </p:cNvPr>
          <p:cNvSpPr/>
          <p:nvPr/>
        </p:nvSpPr>
        <p:spPr>
          <a:xfrm>
            <a:off x="4147930" y="5838614"/>
            <a:ext cx="5035827" cy="63507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000000"/>
                </a:solidFill>
                <a:latin typeface="Koho"/>
                <a:ea typeface="Koho"/>
                <a:cs typeface="Koho"/>
                <a:sym typeface="Koho"/>
              </a:rPr>
              <a:t>Total_price = (list_price * quantity) / discount</a:t>
            </a:r>
          </a:p>
          <a:p>
            <a:pPr algn="ctr"/>
            <a:endParaRPr lang="en-IN" dirty="0">
              <a:solidFill>
                <a:schemeClr val="bg1"/>
              </a:solidFill>
            </a:endParaRPr>
          </a:p>
        </p:txBody>
      </p:sp>
    </p:spTree>
    <p:extLst>
      <p:ext uri="{BB962C8B-B14F-4D97-AF65-F5344CB8AC3E}">
        <p14:creationId xmlns:p14="http://schemas.microsoft.com/office/powerpoint/2010/main" val="516217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D70560-C3EE-43A5-90A2-ECD2A388B18C}"/>
              </a:ext>
            </a:extLst>
          </p:cNvPr>
          <p:cNvSpPr txBox="1"/>
          <p:nvPr/>
        </p:nvSpPr>
        <p:spPr>
          <a:xfrm>
            <a:off x="0" y="291573"/>
            <a:ext cx="4439478" cy="523220"/>
          </a:xfrm>
          <a:prstGeom prst="rect">
            <a:avLst/>
          </a:prstGeom>
          <a:noFill/>
        </p:spPr>
        <p:txBody>
          <a:bodyPr wrap="square" rtlCol="0">
            <a:spAutoFit/>
          </a:bodyPr>
          <a:lstStyle/>
          <a:p>
            <a:r>
              <a:rPr lang="en-IN" sz="2800" b="1" dirty="0">
                <a:solidFill>
                  <a:srgbClr val="002060"/>
                </a:solidFill>
                <a:latin typeface="Javanese Text" panose="02000000000000000000" pitchFamily="2" charset="0"/>
              </a:rPr>
              <a:t>7. Merge Lookup Data</a:t>
            </a:r>
          </a:p>
        </p:txBody>
      </p:sp>
      <p:sp>
        <p:nvSpPr>
          <p:cNvPr id="5" name="TextBox 4">
            <a:extLst>
              <a:ext uri="{FF2B5EF4-FFF2-40B4-BE49-F238E27FC236}">
                <a16:creationId xmlns:a16="http://schemas.microsoft.com/office/drawing/2014/main" id="{6D4D0673-5334-472C-BE99-09FBB6118546}"/>
              </a:ext>
            </a:extLst>
          </p:cNvPr>
          <p:cNvSpPr txBox="1"/>
          <p:nvPr/>
        </p:nvSpPr>
        <p:spPr>
          <a:xfrm>
            <a:off x="0" y="1099930"/>
            <a:ext cx="11714922" cy="707886"/>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Javanese Text" panose="02000000000000000000" pitchFamily="2" charset="0"/>
              </a:rPr>
              <a:t>Using VLOOKUP to pull the product_name from the Products table into the Order_Items sheet based on product_id.</a:t>
            </a:r>
            <a:endParaRPr lang="en-IN" sz="2000" dirty="0">
              <a:latin typeface="Javanese Text" panose="02000000000000000000" pitchFamily="2" charset="0"/>
            </a:endParaRPr>
          </a:p>
        </p:txBody>
      </p:sp>
      <p:sp>
        <p:nvSpPr>
          <p:cNvPr id="7" name="TextBox 6">
            <a:extLst>
              <a:ext uri="{FF2B5EF4-FFF2-40B4-BE49-F238E27FC236}">
                <a16:creationId xmlns:a16="http://schemas.microsoft.com/office/drawing/2014/main" id="{F2502A8A-0354-43B6-84D2-D993250FC4BD}"/>
              </a:ext>
            </a:extLst>
          </p:cNvPr>
          <p:cNvSpPr txBox="1"/>
          <p:nvPr/>
        </p:nvSpPr>
        <p:spPr>
          <a:xfrm>
            <a:off x="13252" y="1921348"/>
            <a:ext cx="6082748" cy="461665"/>
          </a:xfrm>
          <a:prstGeom prst="rect">
            <a:avLst/>
          </a:prstGeom>
          <a:noFill/>
        </p:spPr>
        <p:txBody>
          <a:bodyPr wrap="square" rtlCol="0">
            <a:spAutoFit/>
          </a:bodyPr>
          <a:lstStyle/>
          <a:p>
            <a:r>
              <a:rPr lang="en-US" sz="2400" dirty="0">
                <a:solidFill>
                  <a:srgbClr val="002060"/>
                </a:solidFill>
              </a:rPr>
              <a:t>8</a:t>
            </a:r>
            <a:r>
              <a:rPr lang="en-US" sz="2400" b="1" dirty="0">
                <a:solidFill>
                  <a:srgbClr val="002060"/>
                </a:solidFill>
                <a:latin typeface="Javanese Text" panose="02000000000000000000" pitchFamily="2" charset="0"/>
              </a:rPr>
              <a:t>. Create Basic Pivot Table</a:t>
            </a:r>
            <a:endParaRPr lang="en-IN" sz="2400" b="1" dirty="0">
              <a:solidFill>
                <a:srgbClr val="002060"/>
              </a:solidFill>
              <a:latin typeface="Javanese Text" panose="02000000000000000000" pitchFamily="2" charset="0"/>
            </a:endParaRPr>
          </a:p>
        </p:txBody>
      </p:sp>
      <p:sp>
        <p:nvSpPr>
          <p:cNvPr id="8" name="TextBox 7">
            <a:extLst>
              <a:ext uri="{FF2B5EF4-FFF2-40B4-BE49-F238E27FC236}">
                <a16:creationId xmlns:a16="http://schemas.microsoft.com/office/drawing/2014/main" id="{C345F352-2355-41A0-9113-DC288460D455}"/>
              </a:ext>
            </a:extLst>
          </p:cNvPr>
          <p:cNvSpPr txBox="1"/>
          <p:nvPr/>
        </p:nvSpPr>
        <p:spPr>
          <a:xfrm>
            <a:off x="0" y="2496546"/>
            <a:ext cx="11343861" cy="1015663"/>
          </a:xfrm>
          <a:prstGeom prst="rect">
            <a:avLst/>
          </a:prstGeom>
          <a:noFill/>
        </p:spPr>
        <p:txBody>
          <a:bodyPr wrap="square" rtlCol="0">
            <a:spAutoFit/>
          </a:bodyPr>
          <a:lstStyle/>
          <a:p>
            <a:pPr marL="285750" indent="-285750">
              <a:buFont typeface="Wingdings" panose="05000000000000000000" pitchFamily="2" charset="2"/>
              <a:buChar char="v"/>
            </a:pPr>
            <a:r>
              <a:rPr lang="en-IN" sz="2000" dirty="0">
                <a:latin typeface="Javanese Text" panose="02000000000000000000" pitchFamily="2" charset="0"/>
              </a:rPr>
              <a:t>Pivot Table means summarizing </a:t>
            </a:r>
            <a:r>
              <a:rPr lang="en-US" sz="2000" dirty="0">
                <a:solidFill>
                  <a:srgbClr val="000000"/>
                </a:solidFill>
                <a:latin typeface="Javanese Text" panose="02000000000000000000" pitchFamily="2" charset="0"/>
                <a:ea typeface="Koho"/>
                <a:cs typeface="Koho"/>
                <a:sym typeface="Koho"/>
              </a:rPr>
              <a:t>the total sales by each category.</a:t>
            </a:r>
          </a:p>
          <a:p>
            <a:pPr marL="285750" indent="-285750">
              <a:buFont typeface="Wingdings" panose="05000000000000000000" pitchFamily="2" charset="2"/>
              <a:buChar char="v"/>
            </a:pPr>
            <a:r>
              <a:rPr lang="en-US" sz="2000" dirty="0">
                <a:latin typeface="Javanese Text" panose="02000000000000000000" pitchFamily="2" charset="0"/>
              </a:rPr>
              <a:t>Building a pivot table to show total price by product category </a:t>
            </a:r>
            <a:r>
              <a:rPr lang="en-US" sz="2000" dirty="0">
                <a:solidFill>
                  <a:srgbClr val="000000"/>
                </a:solidFill>
                <a:latin typeface="Javanese Text" panose="02000000000000000000" pitchFamily="2" charset="0"/>
                <a:ea typeface="Koho"/>
                <a:cs typeface="Koho"/>
                <a:sym typeface="Koho"/>
              </a:rPr>
              <a:t>has been added to values by setting the value field settings to sum to get the total_price of each category.</a:t>
            </a:r>
            <a:endParaRPr lang="en-IN" sz="2000" dirty="0">
              <a:latin typeface="Javanese Text" panose="02000000000000000000" pitchFamily="2" charset="0"/>
            </a:endParaRPr>
          </a:p>
        </p:txBody>
      </p:sp>
      <p:sp>
        <p:nvSpPr>
          <p:cNvPr id="9" name="TextBox 8">
            <a:extLst>
              <a:ext uri="{FF2B5EF4-FFF2-40B4-BE49-F238E27FC236}">
                <a16:creationId xmlns:a16="http://schemas.microsoft.com/office/drawing/2014/main" id="{3E9692DD-9BAF-4574-99C7-46C204B06596}"/>
              </a:ext>
            </a:extLst>
          </p:cNvPr>
          <p:cNvSpPr txBox="1"/>
          <p:nvPr/>
        </p:nvSpPr>
        <p:spPr>
          <a:xfrm>
            <a:off x="13252" y="3817058"/>
            <a:ext cx="8388627" cy="461665"/>
          </a:xfrm>
          <a:prstGeom prst="rect">
            <a:avLst/>
          </a:prstGeom>
          <a:noFill/>
        </p:spPr>
        <p:txBody>
          <a:bodyPr wrap="square" rtlCol="0">
            <a:spAutoFit/>
          </a:bodyPr>
          <a:lstStyle/>
          <a:p>
            <a:r>
              <a:rPr lang="en-US" sz="2400" b="1" dirty="0">
                <a:solidFill>
                  <a:srgbClr val="002060"/>
                </a:solidFill>
                <a:latin typeface="Javanese Text" panose="02000000000000000000" pitchFamily="2" charset="0"/>
              </a:rPr>
              <a:t>9. Sort and Filter for Outliers</a:t>
            </a:r>
            <a:endParaRPr lang="en-IN" sz="2400" b="1" dirty="0">
              <a:solidFill>
                <a:srgbClr val="002060"/>
              </a:solidFill>
              <a:latin typeface="Javanese Text" panose="02000000000000000000" pitchFamily="2" charset="0"/>
            </a:endParaRPr>
          </a:p>
        </p:txBody>
      </p:sp>
      <p:sp>
        <p:nvSpPr>
          <p:cNvPr id="10" name="TextBox 9">
            <a:extLst>
              <a:ext uri="{FF2B5EF4-FFF2-40B4-BE49-F238E27FC236}">
                <a16:creationId xmlns:a16="http://schemas.microsoft.com/office/drawing/2014/main" id="{6B977EF8-5359-41C4-9A84-D74218B7571E}"/>
              </a:ext>
            </a:extLst>
          </p:cNvPr>
          <p:cNvSpPr txBox="1"/>
          <p:nvPr/>
        </p:nvSpPr>
        <p:spPr>
          <a:xfrm>
            <a:off x="0" y="4342299"/>
            <a:ext cx="11953461" cy="707886"/>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Javanese Text" panose="02000000000000000000" pitchFamily="2" charset="0"/>
              </a:rPr>
              <a:t>Sorting list_price column to find products with very high or very low prices that might indicate special cases.</a:t>
            </a:r>
            <a:endParaRPr lang="en-IN" sz="2000" dirty="0">
              <a:latin typeface="Javanese Text" panose="02000000000000000000" pitchFamily="2" charset="0"/>
            </a:endParaRPr>
          </a:p>
        </p:txBody>
      </p:sp>
      <p:sp>
        <p:nvSpPr>
          <p:cNvPr id="14" name="TextBox 13">
            <a:extLst>
              <a:ext uri="{FF2B5EF4-FFF2-40B4-BE49-F238E27FC236}">
                <a16:creationId xmlns:a16="http://schemas.microsoft.com/office/drawing/2014/main" id="{03C84E89-CDA7-4D24-B7E1-B1A143DF1DFD}"/>
              </a:ext>
            </a:extLst>
          </p:cNvPr>
          <p:cNvSpPr txBox="1"/>
          <p:nvPr/>
        </p:nvSpPr>
        <p:spPr>
          <a:xfrm>
            <a:off x="198783" y="5247861"/>
            <a:ext cx="6387547" cy="461665"/>
          </a:xfrm>
          <a:prstGeom prst="rect">
            <a:avLst/>
          </a:prstGeom>
          <a:noFill/>
        </p:spPr>
        <p:txBody>
          <a:bodyPr wrap="square" rtlCol="0">
            <a:spAutoFit/>
          </a:bodyPr>
          <a:lstStyle/>
          <a:p>
            <a:r>
              <a:rPr lang="en-IN" sz="2400" b="1" dirty="0">
                <a:solidFill>
                  <a:srgbClr val="002060"/>
                </a:solidFill>
                <a:latin typeface="Javanese Text" panose="02000000000000000000" pitchFamily="2" charset="0"/>
              </a:rPr>
              <a:t>10.Prepare Final CSVs</a:t>
            </a:r>
          </a:p>
        </p:txBody>
      </p:sp>
      <p:sp>
        <p:nvSpPr>
          <p:cNvPr id="15" name="TextBox 14">
            <a:extLst>
              <a:ext uri="{FF2B5EF4-FFF2-40B4-BE49-F238E27FC236}">
                <a16:creationId xmlns:a16="http://schemas.microsoft.com/office/drawing/2014/main" id="{5B9EDCB7-78A6-4A55-B948-3338FB8E091E}"/>
              </a:ext>
            </a:extLst>
          </p:cNvPr>
          <p:cNvSpPr txBox="1"/>
          <p:nvPr/>
        </p:nvSpPr>
        <p:spPr>
          <a:xfrm>
            <a:off x="13251" y="5657671"/>
            <a:ext cx="11979965" cy="1292662"/>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Javanese Text" panose="02000000000000000000" pitchFamily="2" charset="0"/>
              </a:rPr>
              <a:t>All the cleaned datasets have been saved in a separate sheets in CSV format to import in SQL.</a:t>
            </a:r>
          </a:p>
          <a:p>
            <a:pPr marL="285750" indent="-285750">
              <a:buFont typeface="Wingdings" panose="05000000000000000000" pitchFamily="2" charset="2"/>
              <a:buChar char="v"/>
            </a:pPr>
            <a:r>
              <a:rPr lang="en-US" sz="2000" dirty="0">
                <a:latin typeface="Javanese Text" panose="02000000000000000000" pitchFamily="2" charset="0"/>
              </a:rPr>
              <a:t>Created one separate excel file and updated all the datasets in the same file in different spread sheets along with the tasks. </a:t>
            </a:r>
          </a:p>
          <a:p>
            <a:endParaRPr lang="en-IN" dirty="0"/>
          </a:p>
        </p:txBody>
      </p:sp>
    </p:spTree>
    <p:extLst>
      <p:ext uri="{BB962C8B-B14F-4D97-AF65-F5344CB8AC3E}">
        <p14:creationId xmlns:p14="http://schemas.microsoft.com/office/powerpoint/2010/main" val="1300707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EE9C23-7AD2-4CD2-B7F0-9A1C5F13BB40}"/>
              </a:ext>
            </a:extLst>
          </p:cNvPr>
          <p:cNvSpPr txBox="1"/>
          <p:nvPr/>
        </p:nvSpPr>
        <p:spPr>
          <a:xfrm>
            <a:off x="225287" y="728870"/>
            <a:ext cx="6440556" cy="1323439"/>
          </a:xfrm>
          <a:prstGeom prst="rect">
            <a:avLst/>
          </a:prstGeom>
          <a:noFill/>
        </p:spPr>
        <p:txBody>
          <a:bodyPr wrap="square" rtlCol="0">
            <a:spAutoFit/>
          </a:bodyPr>
          <a:lstStyle/>
          <a:p>
            <a:r>
              <a:rPr lang="en-US" sz="4000" b="1" dirty="0">
                <a:solidFill>
                  <a:schemeClr val="bg1"/>
                </a:solidFill>
                <a:latin typeface="Javanese Text" panose="02000000000000000000" pitchFamily="2" charset="0"/>
              </a:rPr>
              <a:t>SQL – Database Management and Querying</a:t>
            </a:r>
            <a:endParaRPr lang="en-IN" sz="4000" b="1" dirty="0">
              <a:solidFill>
                <a:schemeClr val="bg1"/>
              </a:solidFill>
              <a:latin typeface="Javanese Text" panose="02000000000000000000" pitchFamily="2" charset="0"/>
            </a:endParaRPr>
          </a:p>
        </p:txBody>
      </p:sp>
    </p:spTree>
    <p:extLst>
      <p:ext uri="{BB962C8B-B14F-4D97-AF65-F5344CB8AC3E}">
        <p14:creationId xmlns:p14="http://schemas.microsoft.com/office/powerpoint/2010/main" val="56751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0290EE-EAD6-4FA0-8C15-CF8902AC520C}"/>
              </a:ext>
            </a:extLst>
          </p:cNvPr>
          <p:cNvSpPr txBox="1"/>
          <p:nvPr/>
        </p:nvSpPr>
        <p:spPr>
          <a:xfrm>
            <a:off x="2279372" y="31092"/>
            <a:ext cx="9250018" cy="584775"/>
          </a:xfrm>
          <a:prstGeom prst="rect">
            <a:avLst/>
          </a:prstGeom>
          <a:noFill/>
        </p:spPr>
        <p:txBody>
          <a:bodyPr wrap="square" rtlCol="0">
            <a:spAutoFit/>
          </a:bodyPr>
          <a:lstStyle/>
          <a:p>
            <a:r>
              <a:rPr lang="en-US" sz="3200" b="1" dirty="0">
                <a:solidFill>
                  <a:srgbClr val="002060"/>
                </a:solidFill>
                <a:latin typeface="Javanese Text" panose="02000000000000000000" pitchFamily="2" charset="0"/>
              </a:rPr>
              <a:t>SQL – Database Management and Querying</a:t>
            </a:r>
            <a:endParaRPr lang="en-IN" sz="3200" b="1" dirty="0">
              <a:solidFill>
                <a:srgbClr val="002060"/>
              </a:solidFill>
              <a:latin typeface="Javanese Text" panose="02000000000000000000" pitchFamily="2" charset="0"/>
            </a:endParaRPr>
          </a:p>
        </p:txBody>
      </p:sp>
      <p:sp>
        <p:nvSpPr>
          <p:cNvPr id="6" name="TextBox 5">
            <a:extLst>
              <a:ext uri="{FF2B5EF4-FFF2-40B4-BE49-F238E27FC236}">
                <a16:creationId xmlns:a16="http://schemas.microsoft.com/office/drawing/2014/main" id="{E44A15C0-9771-4F1F-9A2F-5948D0E7230E}"/>
              </a:ext>
            </a:extLst>
          </p:cNvPr>
          <p:cNvSpPr txBox="1"/>
          <p:nvPr/>
        </p:nvSpPr>
        <p:spPr>
          <a:xfrm>
            <a:off x="-1" y="4903304"/>
            <a:ext cx="12191999" cy="1938992"/>
          </a:xfrm>
          <a:prstGeom prst="rect">
            <a:avLst/>
          </a:prstGeom>
          <a:noFill/>
        </p:spPr>
        <p:txBody>
          <a:bodyPr wrap="square" rtlCol="0">
            <a:spAutoFit/>
          </a:bodyPr>
          <a:lstStyle/>
          <a:p>
            <a:pPr marL="342900" indent="-342900">
              <a:buFont typeface="Wingdings" panose="05000000000000000000" pitchFamily="2" charset="2"/>
              <a:buChar char="v"/>
            </a:pPr>
            <a:r>
              <a:rPr lang="en-US" sz="2000" dirty="0">
                <a:latin typeface="Javanese Text" panose="02000000000000000000" pitchFamily="2" charset="0"/>
              </a:rPr>
              <a:t>Created different tables based on the ER diagram in the MySQL workbench by importing the datasets through table data import wizard.</a:t>
            </a:r>
          </a:p>
          <a:p>
            <a:pPr marL="342900" indent="-342900">
              <a:buFont typeface="Wingdings" panose="05000000000000000000" pitchFamily="2" charset="2"/>
              <a:buChar char="v"/>
            </a:pPr>
            <a:r>
              <a:rPr lang="en-US" sz="2000" dirty="0">
                <a:latin typeface="Javanese Text" panose="02000000000000000000" pitchFamily="2" charset="0"/>
              </a:rPr>
              <a:t>Unique, primary and foreign keys have been assigned to the columns as required to manage relationships between the tables.</a:t>
            </a:r>
          </a:p>
          <a:p>
            <a:pPr marL="342900" indent="-342900">
              <a:buFont typeface="Wingdings" panose="05000000000000000000" pitchFamily="2" charset="2"/>
              <a:buChar char="v"/>
            </a:pPr>
            <a:r>
              <a:rPr lang="en-US" sz="2000" dirty="0">
                <a:latin typeface="Javanese Text" panose="02000000000000000000" pitchFamily="2" charset="0"/>
              </a:rPr>
              <a:t>Datatypes have been updated for each column. Stores details about each customer. Customer_id uniquely identifies every customer.</a:t>
            </a:r>
          </a:p>
        </p:txBody>
      </p:sp>
      <p:sp>
        <p:nvSpPr>
          <p:cNvPr id="7" name="TextBox 6">
            <a:extLst>
              <a:ext uri="{FF2B5EF4-FFF2-40B4-BE49-F238E27FC236}">
                <a16:creationId xmlns:a16="http://schemas.microsoft.com/office/drawing/2014/main" id="{22A398A5-9BEB-47F1-AB1D-9ABDA1EC9441}"/>
              </a:ext>
            </a:extLst>
          </p:cNvPr>
          <p:cNvSpPr txBox="1"/>
          <p:nvPr/>
        </p:nvSpPr>
        <p:spPr>
          <a:xfrm>
            <a:off x="0" y="4441639"/>
            <a:ext cx="6241774" cy="461665"/>
          </a:xfrm>
          <a:prstGeom prst="rect">
            <a:avLst/>
          </a:prstGeom>
          <a:noFill/>
        </p:spPr>
        <p:txBody>
          <a:bodyPr wrap="square" rtlCol="0">
            <a:spAutoFit/>
          </a:bodyPr>
          <a:lstStyle/>
          <a:p>
            <a:r>
              <a:rPr lang="en-US" sz="2400" b="1" dirty="0">
                <a:solidFill>
                  <a:srgbClr val="002060"/>
                </a:solidFill>
                <a:latin typeface="Javanese Text" panose="02000000000000000000" pitchFamily="2" charset="0"/>
              </a:rPr>
              <a:t>1. Create Tables Based on ERD</a:t>
            </a:r>
            <a:endParaRPr lang="en-IN" sz="2400" b="1" dirty="0">
              <a:solidFill>
                <a:srgbClr val="002060"/>
              </a:solidFill>
              <a:latin typeface="Javanese Text" panose="02000000000000000000" pitchFamily="2" charset="0"/>
            </a:endParaRPr>
          </a:p>
        </p:txBody>
      </p:sp>
      <p:pic>
        <p:nvPicPr>
          <p:cNvPr id="5" name="Picture 4" descr="MySQL Workbench">
            <a:extLst>
              <a:ext uri="{FF2B5EF4-FFF2-40B4-BE49-F238E27FC236}">
                <a16:creationId xmlns:a16="http://schemas.microsoft.com/office/drawing/2014/main" id="{7BD53894-7AB8-4AD1-A5F1-9727B575B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5868"/>
            <a:ext cx="12191998" cy="3704342"/>
          </a:xfrm>
          <a:prstGeom prst="rect">
            <a:avLst/>
          </a:prstGeom>
        </p:spPr>
      </p:pic>
    </p:spTree>
    <p:extLst>
      <p:ext uri="{BB962C8B-B14F-4D97-AF65-F5344CB8AC3E}">
        <p14:creationId xmlns:p14="http://schemas.microsoft.com/office/powerpoint/2010/main" val="754675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C64B95-9BE6-4204-A858-DFC8C8EB4E1B}"/>
              </a:ext>
            </a:extLst>
          </p:cNvPr>
          <p:cNvSpPr txBox="1"/>
          <p:nvPr/>
        </p:nvSpPr>
        <p:spPr>
          <a:xfrm>
            <a:off x="2782956" y="198783"/>
            <a:ext cx="4625009" cy="646331"/>
          </a:xfrm>
          <a:prstGeom prst="rect">
            <a:avLst/>
          </a:prstGeom>
          <a:noFill/>
        </p:spPr>
        <p:txBody>
          <a:bodyPr wrap="square" rtlCol="0">
            <a:spAutoFit/>
          </a:bodyPr>
          <a:lstStyle/>
          <a:p>
            <a:r>
              <a:rPr lang="en-US" sz="3600" dirty="0">
                <a:solidFill>
                  <a:srgbClr val="002060"/>
                </a:solidFill>
              </a:rPr>
              <a:t>2</a:t>
            </a:r>
            <a:r>
              <a:rPr lang="en-US" sz="3200" b="1" dirty="0">
                <a:solidFill>
                  <a:srgbClr val="002060"/>
                </a:solidFill>
              </a:rPr>
              <a:t>. Import CSVs into SQL</a:t>
            </a:r>
            <a:endParaRPr lang="en-IN" sz="3600" b="1" dirty="0">
              <a:solidFill>
                <a:srgbClr val="002060"/>
              </a:solidFill>
            </a:endParaRPr>
          </a:p>
        </p:txBody>
      </p:sp>
      <p:pic>
        <p:nvPicPr>
          <p:cNvPr id="5" name="Picture 4">
            <a:extLst>
              <a:ext uri="{FF2B5EF4-FFF2-40B4-BE49-F238E27FC236}">
                <a16:creationId xmlns:a16="http://schemas.microsoft.com/office/drawing/2014/main" id="{C2FB7693-B84D-49F0-ABD0-F28DDF0B3B17}"/>
              </a:ext>
            </a:extLst>
          </p:cNvPr>
          <p:cNvPicPr>
            <a:picLocks noChangeAspect="1"/>
          </p:cNvPicPr>
          <p:nvPr/>
        </p:nvPicPr>
        <p:blipFill>
          <a:blip r:embed="rId2"/>
          <a:stretch>
            <a:fillRect/>
          </a:stretch>
        </p:blipFill>
        <p:spPr>
          <a:xfrm>
            <a:off x="7805530" y="1252090"/>
            <a:ext cx="4386470" cy="4154798"/>
          </a:xfrm>
          <a:prstGeom prst="rect">
            <a:avLst/>
          </a:prstGeom>
        </p:spPr>
      </p:pic>
      <p:sp>
        <p:nvSpPr>
          <p:cNvPr id="6" name="TextBox 5">
            <a:extLst>
              <a:ext uri="{FF2B5EF4-FFF2-40B4-BE49-F238E27FC236}">
                <a16:creationId xmlns:a16="http://schemas.microsoft.com/office/drawing/2014/main" id="{A4672F39-4141-4581-B5D0-19E0136DE9F0}"/>
              </a:ext>
            </a:extLst>
          </p:cNvPr>
          <p:cNvSpPr txBox="1"/>
          <p:nvPr/>
        </p:nvSpPr>
        <p:spPr>
          <a:xfrm>
            <a:off x="0" y="1404730"/>
            <a:ext cx="7805530" cy="3816429"/>
          </a:xfrm>
          <a:prstGeom prst="rect">
            <a:avLst/>
          </a:prstGeom>
          <a:noFill/>
        </p:spPr>
        <p:txBody>
          <a:bodyPr wrap="square" rtlCol="0">
            <a:spAutoFit/>
          </a:bodyPr>
          <a:lstStyle/>
          <a:p>
            <a:pPr marL="285750" indent="-285750">
              <a:buFont typeface="Wingdings" panose="05000000000000000000" pitchFamily="2" charset="2"/>
              <a:buChar char="v"/>
            </a:pPr>
            <a:r>
              <a:rPr lang="en-US" sz="2800" dirty="0">
                <a:solidFill>
                  <a:srgbClr val="000000"/>
                </a:solidFill>
                <a:latin typeface="Javanese Text" panose="02000000000000000000" pitchFamily="2" charset="0"/>
                <a:ea typeface="Koho"/>
                <a:cs typeface="Koho"/>
                <a:sym typeface="Koho"/>
              </a:rPr>
              <a:t>Created the database in the name of final_project.</a:t>
            </a:r>
          </a:p>
          <a:p>
            <a:pPr marL="285750" indent="-285750">
              <a:buFont typeface="Wingdings" panose="05000000000000000000" pitchFamily="2" charset="2"/>
              <a:buChar char="v"/>
            </a:pPr>
            <a:r>
              <a:rPr lang="en-US" sz="2800" dirty="0">
                <a:latin typeface="Javanese Text" panose="02000000000000000000" pitchFamily="2" charset="0"/>
              </a:rPr>
              <a:t>In the Navigator panel, right-click the table you want to import into and select Table Data Import Wizard.</a:t>
            </a:r>
          </a:p>
          <a:p>
            <a:pPr marL="285750" indent="-285750">
              <a:buFont typeface="Wingdings" panose="05000000000000000000" pitchFamily="2" charset="2"/>
              <a:buChar char="v"/>
            </a:pPr>
            <a:r>
              <a:rPr lang="en-US" sz="2800" dirty="0">
                <a:solidFill>
                  <a:srgbClr val="000000"/>
                </a:solidFill>
                <a:latin typeface="Javanese Text" panose="02000000000000000000" pitchFamily="2" charset="0"/>
                <a:ea typeface="Koho"/>
                <a:cs typeface="Koho"/>
                <a:sym typeface="Koho"/>
              </a:rPr>
              <a:t>Datatypes of each columns in the tables have been updated as per the standard format.</a:t>
            </a:r>
          </a:p>
          <a:p>
            <a:pPr marL="285750" indent="-285750">
              <a:buFont typeface="Wingdings" panose="05000000000000000000" pitchFamily="2" charset="2"/>
              <a:buChar char="v"/>
            </a:pPr>
            <a:endParaRPr lang="en-US" sz="2800" dirty="0">
              <a:latin typeface="Javanese Text" panose="02000000000000000000" pitchFamily="2" charset="0"/>
            </a:endParaRPr>
          </a:p>
          <a:p>
            <a:endParaRPr lang="en-IN" dirty="0"/>
          </a:p>
        </p:txBody>
      </p:sp>
    </p:spTree>
    <p:extLst>
      <p:ext uri="{BB962C8B-B14F-4D97-AF65-F5344CB8AC3E}">
        <p14:creationId xmlns:p14="http://schemas.microsoft.com/office/powerpoint/2010/main" val="3777070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ySQL Workbench">
            <a:extLst>
              <a:ext uri="{FF2B5EF4-FFF2-40B4-BE49-F238E27FC236}">
                <a16:creationId xmlns:a16="http://schemas.microsoft.com/office/drawing/2014/main" id="{7A81EC4F-08AF-4E64-ACC0-A121D3DEED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121426"/>
          </a:xfrm>
          <a:prstGeom prst="rect">
            <a:avLst/>
          </a:prstGeom>
        </p:spPr>
      </p:pic>
      <p:sp>
        <p:nvSpPr>
          <p:cNvPr id="6" name="TextBox 5">
            <a:extLst>
              <a:ext uri="{FF2B5EF4-FFF2-40B4-BE49-F238E27FC236}">
                <a16:creationId xmlns:a16="http://schemas.microsoft.com/office/drawing/2014/main" id="{33B9E578-8BC7-4044-8F10-BDD19B0987FD}"/>
              </a:ext>
            </a:extLst>
          </p:cNvPr>
          <p:cNvSpPr txBox="1"/>
          <p:nvPr/>
        </p:nvSpPr>
        <p:spPr>
          <a:xfrm>
            <a:off x="0" y="4253947"/>
            <a:ext cx="4585252" cy="461665"/>
          </a:xfrm>
          <a:prstGeom prst="rect">
            <a:avLst/>
          </a:prstGeom>
          <a:noFill/>
        </p:spPr>
        <p:txBody>
          <a:bodyPr wrap="square" rtlCol="0">
            <a:spAutoFit/>
          </a:bodyPr>
          <a:lstStyle/>
          <a:p>
            <a:r>
              <a:rPr lang="en-IN" sz="2400" b="1" dirty="0">
                <a:solidFill>
                  <a:srgbClr val="002060"/>
                </a:solidFill>
                <a:latin typeface="Javanese Text" panose="02000000000000000000" pitchFamily="2" charset="0"/>
              </a:rPr>
              <a:t>3. Inner Join for Order Details</a:t>
            </a:r>
          </a:p>
        </p:txBody>
      </p:sp>
      <p:sp>
        <p:nvSpPr>
          <p:cNvPr id="2" name="TextBox 1">
            <a:extLst>
              <a:ext uri="{FF2B5EF4-FFF2-40B4-BE49-F238E27FC236}">
                <a16:creationId xmlns:a16="http://schemas.microsoft.com/office/drawing/2014/main" id="{97C718FB-9150-4F51-B47F-7ECFB174D54F}"/>
              </a:ext>
            </a:extLst>
          </p:cNvPr>
          <p:cNvSpPr txBox="1"/>
          <p:nvPr/>
        </p:nvSpPr>
        <p:spPr>
          <a:xfrm>
            <a:off x="0" y="4715612"/>
            <a:ext cx="12032974" cy="1908215"/>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Javanese Text" panose="02000000000000000000" pitchFamily="2" charset="0"/>
              </a:rPr>
              <a:t>INNER JOIN statement joins two tables based on a common column and selects rows that have matching values in these columns.</a:t>
            </a:r>
          </a:p>
          <a:p>
            <a:endParaRPr lang="en-US" sz="2000" dirty="0">
              <a:latin typeface="Javanese Text" panose="02000000000000000000" pitchFamily="2" charset="0"/>
            </a:endParaRP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Using order_id, joined orders and order_items tables where as products and order_items tables have been joined using product_id.</a:t>
            </a:r>
          </a:p>
          <a:p>
            <a:endParaRPr lang="en-IN" dirty="0"/>
          </a:p>
        </p:txBody>
      </p:sp>
    </p:spTree>
    <p:extLst>
      <p:ext uri="{BB962C8B-B14F-4D97-AF65-F5344CB8AC3E}">
        <p14:creationId xmlns:p14="http://schemas.microsoft.com/office/powerpoint/2010/main" val="210313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ySQL Workbench">
            <a:extLst>
              <a:ext uri="{FF2B5EF4-FFF2-40B4-BE49-F238E27FC236}">
                <a16:creationId xmlns:a16="http://schemas.microsoft.com/office/drawing/2014/main" id="{7BCC6E09-16B4-4509-934D-3F3384585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53" y="0"/>
            <a:ext cx="12192000" cy="4656219"/>
          </a:xfrm>
          <a:prstGeom prst="rect">
            <a:avLst/>
          </a:prstGeom>
        </p:spPr>
      </p:pic>
      <p:sp>
        <p:nvSpPr>
          <p:cNvPr id="8" name="TextBox 7">
            <a:extLst>
              <a:ext uri="{FF2B5EF4-FFF2-40B4-BE49-F238E27FC236}">
                <a16:creationId xmlns:a16="http://schemas.microsoft.com/office/drawing/2014/main" id="{73A746E1-DFC1-494B-937C-92027827C3EC}"/>
              </a:ext>
            </a:extLst>
          </p:cNvPr>
          <p:cNvSpPr txBox="1"/>
          <p:nvPr/>
        </p:nvSpPr>
        <p:spPr>
          <a:xfrm>
            <a:off x="0" y="4801992"/>
            <a:ext cx="5141843" cy="523220"/>
          </a:xfrm>
          <a:prstGeom prst="rect">
            <a:avLst/>
          </a:prstGeom>
          <a:noFill/>
        </p:spPr>
        <p:txBody>
          <a:bodyPr wrap="square" rtlCol="0">
            <a:spAutoFit/>
          </a:bodyPr>
          <a:lstStyle/>
          <a:p>
            <a:r>
              <a:rPr lang="en-US" sz="2800" b="1" dirty="0">
                <a:solidFill>
                  <a:srgbClr val="002060"/>
                </a:solidFill>
                <a:latin typeface="Javanese Text" panose="02000000000000000000" pitchFamily="2" charset="0"/>
              </a:rPr>
              <a:t>4. Total Sales by Store</a:t>
            </a:r>
            <a:endParaRPr lang="en-IN" sz="2800" b="1" dirty="0">
              <a:solidFill>
                <a:srgbClr val="002060"/>
              </a:solidFill>
              <a:latin typeface="Javanese Text" panose="02000000000000000000" pitchFamily="2" charset="0"/>
            </a:endParaRPr>
          </a:p>
        </p:txBody>
      </p:sp>
      <p:sp>
        <p:nvSpPr>
          <p:cNvPr id="2" name="TextBox 1">
            <a:extLst>
              <a:ext uri="{FF2B5EF4-FFF2-40B4-BE49-F238E27FC236}">
                <a16:creationId xmlns:a16="http://schemas.microsoft.com/office/drawing/2014/main" id="{43CFAB61-8F20-45F0-9B06-556E6DAF209A}"/>
              </a:ext>
            </a:extLst>
          </p:cNvPr>
          <p:cNvSpPr txBox="1"/>
          <p:nvPr/>
        </p:nvSpPr>
        <p:spPr>
          <a:xfrm>
            <a:off x="0" y="5470986"/>
            <a:ext cx="9356035" cy="1200329"/>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Santa Cruz Bikes has the highest sales (~17.9M).</a:t>
            </a:r>
          </a:p>
          <a:p>
            <a:pPr marL="285750" indent="-285750">
              <a:buFont typeface="Wingdings" panose="05000000000000000000" pitchFamily="2" charset="2"/>
              <a:buChar char="v"/>
            </a:pPr>
            <a:r>
              <a:rPr lang="en-US" sz="2400" dirty="0"/>
              <a:t>Baldwin Bikes follows with ~5.8M.</a:t>
            </a:r>
          </a:p>
          <a:p>
            <a:pPr marL="285750" indent="-285750">
              <a:buFont typeface="Wingdings" panose="05000000000000000000" pitchFamily="2" charset="2"/>
              <a:buChar char="v"/>
            </a:pPr>
            <a:r>
              <a:rPr lang="en-US" sz="2400" dirty="0"/>
              <a:t>Rowlett Bikes has the lowest sales (~962K).</a:t>
            </a:r>
            <a:endParaRPr lang="en-IN" sz="2000" dirty="0"/>
          </a:p>
        </p:txBody>
      </p:sp>
    </p:spTree>
    <p:extLst>
      <p:ext uri="{BB962C8B-B14F-4D97-AF65-F5344CB8AC3E}">
        <p14:creationId xmlns:p14="http://schemas.microsoft.com/office/powerpoint/2010/main" val="124977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ySQL Workbench">
            <a:extLst>
              <a:ext uri="{FF2B5EF4-FFF2-40B4-BE49-F238E27FC236}">
                <a16:creationId xmlns:a16="http://schemas.microsoft.com/office/drawing/2014/main" id="{5BA579D0-1203-4148-8482-491C55F11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3922643"/>
          </a:xfrm>
          <a:prstGeom prst="rect">
            <a:avLst/>
          </a:prstGeom>
        </p:spPr>
      </p:pic>
      <p:sp>
        <p:nvSpPr>
          <p:cNvPr id="6" name="TextBox 5">
            <a:extLst>
              <a:ext uri="{FF2B5EF4-FFF2-40B4-BE49-F238E27FC236}">
                <a16:creationId xmlns:a16="http://schemas.microsoft.com/office/drawing/2014/main" id="{EFC8C678-D505-4A14-9B41-528117442F77}"/>
              </a:ext>
            </a:extLst>
          </p:cNvPr>
          <p:cNvSpPr txBox="1"/>
          <p:nvPr/>
        </p:nvSpPr>
        <p:spPr>
          <a:xfrm>
            <a:off x="0" y="4161183"/>
            <a:ext cx="5883966" cy="461665"/>
          </a:xfrm>
          <a:prstGeom prst="rect">
            <a:avLst/>
          </a:prstGeom>
          <a:noFill/>
        </p:spPr>
        <p:txBody>
          <a:bodyPr wrap="square" rtlCol="0">
            <a:spAutoFit/>
          </a:bodyPr>
          <a:lstStyle/>
          <a:p>
            <a:r>
              <a:rPr lang="en-US" sz="2400" b="1" dirty="0">
                <a:solidFill>
                  <a:srgbClr val="002060"/>
                </a:solidFill>
                <a:latin typeface="Javanese Text" panose="02000000000000000000" pitchFamily="2" charset="0"/>
              </a:rPr>
              <a:t>5. Top 5 Selling Products</a:t>
            </a:r>
            <a:endParaRPr lang="en-IN" sz="2400" b="1" dirty="0">
              <a:solidFill>
                <a:srgbClr val="002060"/>
              </a:solidFill>
              <a:latin typeface="Javanese Text" panose="02000000000000000000" pitchFamily="2" charset="0"/>
            </a:endParaRPr>
          </a:p>
        </p:txBody>
      </p:sp>
      <p:sp>
        <p:nvSpPr>
          <p:cNvPr id="3" name="TextBox 2">
            <a:extLst>
              <a:ext uri="{FF2B5EF4-FFF2-40B4-BE49-F238E27FC236}">
                <a16:creationId xmlns:a16="http://schemas.microsoft.com/office/drawing/2014/main" id="{1D66D42C-F008-4FA4-940C-90ABB29E42F7}"/>
              </a:ext>
            </a:extLst>
          </p:cNvPr>
          <p:cNvSpPr txBox="1"/>
          <p:nvPr/>
        </p:nvSpPr>
        <p:spPr>
          <a:xfrm>
            <a:off x="6626" y="4622848"/>
            <a:ext cx="11754679" cy="2246769"/>
          </a:xfrm>
          <a:prstGeom prst="rect">
            <a:avLst/>
          </a:prstGeom>
          <a:noFill/>
        </p:spPr>
        <p:txBody>
          <a:bodyPr wrap="square" rtlCol="0">
            <a:spAutoFit/>
          </a:bodyPr>
          <a:lstStyle/>
          <a:p>
            <a:pPr marL="342900" indent="-342900">
              <a:buFont typeface="Wingdings" panose="05000000000000000000" pitchFamily="2" charset="2"/>
              <a:buChar char="v"/>
            </a:pPr>
            <a:r>
              <a:rPr lang="en-US" sz="2000" b="1" dirty="0"/>
              <a:t>Best Selling Product: </a:t>
            </a:r>
          </a:p>
          <a:p>
            <a:r>
              <a:rPr lang="en-US" sz="2000" dirty="0"/>
              <a:t>      Surly Ice Cream Truck Frameset - 2016 with 167 units sold.</a:t>
            </a:r>
          </a:p>
          <a:p>
            <a:pPr marL="342900" indent="-342900">
              <a:buFont typeface="Wingdings" panose="05000000000000000000" pitchFamily="2" charset="2"/>
              <a:buChar char="v"/>
            </a:pPr>
            <a:r>
              <a:rPr lang="en-US" sz="2000" b="1" dirty="0"/>
              <a:t>Electra Brand Dominance:</a:t>
            </a:r>
            <a:br>
              <a:rPr lang="en-US" sz="2000" b="1" dirty="0"/>
            </a:br>
            <a:r>
              <a:rPr lang="en-US" sz="2000" dirty="0"/>
              <a:t>Out of the top 5, 3 products are from Electra (Cruiser, Townie, Hawaii), showing its popularity.</a:t>
            </a:r>
          </a:p>
          <a:p>
            <a:pPr marL="342900" indent="-342900">
              <a:buFont typeface="Wingdings" panose="05000000000000000000" pitchFamily="2" charset="2"/>
              <a:buChar char="v"/>
            </a:pPr>
            <a:r>
              <a:rPr lang="en-US" sz="2000" b="1" dirty="0"/>
              <a:t>Close Competition:</a:t>
            </a:r>
            <a:br>
              <a:rPr lang="en-US" sz="2000" b="1" dirty="0"/>
            </a:br>
            <a:r>
              <a:rPr lang="en-US" sz="2000" dirty="0"/>
              <a:t>Products ranked 2nd to 5th have very close sales (154–157 units).</a:t>
            </a:r>
          </a:p>
          <a:p>
            <a:pPr marL="342900" indent="-342900">
              <a:buFont typeface="Wingdings" panose="05000000000000000000" pitchFamily="2" charset="2"/>
              <a:buChar char="v"/>
            </a:pPr>
            <a:r>
              <a:rPr lang="en-US" sz="2000" dirty="0"/>
              <a:t>Trek Slash 8 is also a strong competitor in sales.</a:t>
            </a:r>
            <a:endParaRPr lang="en-IN" sz="2000" dirty="0"/>
          </a:p>
        </p:txBody>
      </p:sp>
    </p:spTree>
    <p:extLst>
      <p:ext uri="{BB962C8B-B14F-4D97-AF65-F5344CB8AC3E}">
        <p14:creationId xmlns:p14="http://schemas.microsoft.com/office/powerpoint/2010/main" val="316168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ySQL Workbench">
            <a:extLst>
              <a:ext uri="{FF2B5EF4-FFF2-40B4-BE49-F238E27FC236}">
                <a16:creationId xmlns:a16="http://schemas.microsoft.com/office/drawing/2014/main" id="{007CE40E-A076-47D6-A1F9-411BF393B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4028662"/>
          </a:xfrm>
          <a:prstGeom prst="rect">
            <a:avLst/>
          </a:prstGeom>
        </p:spPr>
      </p:pic>
      <p:sp>
        <p:nvSpPr>
          <p:cNvPr id="6" name="TextBox 5">
            <a:extLst>
              <a:ext uri="{FF2B5EF4-FFF2-40B4-BE49-F238E27FC236}">
                <a16:creationId xmlns:a16="http://schemas.microsoft.com/office/drawing/2014/main" id="{BB39BAF5-1F11-45D0-81DD-A7E204843E58}"/>
              </a:ext>
            </a:extLst>
          </p:cNvPr>
          <p:cNvSpPr txBox="1"/>
          <p:nvPr/>
        </p:nvSpPr>
        <p:spPr>
          <a:xfrm>
            <a:off x="0" y="4373217"/>
            <a:ext cx="5274365" cy="461665"/>
          </a:xfrm>
          <a:prstGeom prst="rect">
            <a:avLst/>
          </a:prstGeom>
          <a:noFill/>
        </p:spPr>
        <p:txBody>
          <a:bodyPr wrap="square" rtlCol="0">
            <a:spAutoFit/>
          </a:bodyPr>
          <a:lstStyle/>
          <a:p>
            <a:r>
              <a:rPr lang="en-IN" sz="2400" b="1" dirty="0">
                <a:solidFill>
                  <a:srgbClr val="002060"/>
                </a:solidFill>
                <a:latin typeface="Javanese Text" panose="02000000000000000000" pitchFamily="2" charset="0"/>
              </a:rPr>
              <a:t>6. Customer Purchase Summary</a:t>
            </a:r>
          </a:p>
        </p:txBody>
      </p:sp>
      <p:sp>
        <p:nvSpPr>
          <p:cNvPr id="2" name="TextBox 1">
            <a:extLst>
              <a:ext uri="{FF2B5EF4-FFF2-40B4-BE49-F238E27FC236}">
                <a16:creationId xmlns:a16="http://schemas.microsoft.com/office/drawing/2014/main" id="{4B472B25-6955-4738-AC1C-1C1D239BD7E7}"/>
              </a:ext>
            </a:extLst>
          </p:cNvPr>
          <p:cNvSpPr txBox="1"/>
          <p:nvPr/>
        </p:nvSpPr>
        <p:spPr>
          <a:xfrm>
            <a:off x="53008" y="4938646"/>
            <a:ext cx="12138991" cy="1877437"/>
          </a:xfrm>
          <a:prstGeom prst="rect">
            <a:avLst/>
          </a:prstGeom>
          <a:noFill/>
        </p:spPr>
        <p:txBody>
          <a:bodyPr wrap="square" rtlCol="0">
            <a:spAutoFit/>
          </a:bodyPr>
          <a:lstStyle/>
          <a:p>
            <a:pPr marL="285750" indent="-285750">
              <a:buFont typeface="Wingdings" panose="05000000000000000000" pitchFamily="2" charset="2"/>
              <a:buChar char="v"/>
            </a:pPr>
            <a:r>
              <a:rPr lang="en-US" sz="2000" dirty="0">
                <a:solidFill>
                  <a:srgbClr val="000000"/>
                </a:solidFill>
                <a:ea typeface="Koho"/>
                <a:cs typeface="Koho"/>
                <a:sym typeface="Koho"/>
              </a:rPr>
              <a:t>For each customer, retrieved the total orders placed, total items purchased and total revenue.</a:t>
            </a:r>
          </a:p>
          <a:p>
            <a:pPr marL="285750" indent="-285750">
              <a:buFont typeface="Wingdings" panose="05000000000000000000" pitchFamily="2" charset="2"/>
              <a:buChar char="v"/>
            </a:pPr>
            <a:r>
              <a:rPr lang="en-US" sz="2000" dirty="0">
                <a:solidFill>
                  <a:srgbClr val="000000"/>
                </a:solidFill>
                <a:ea typeface="Koho"/>
                <a:cs typeface="Koho"/>
                <a:sym typeface="Koho"/>
              </a:rPr>
              <a:t>There are 1445 customers overall where as maximum orders placed by single customer is 3 where as maximum items purchased is 36 and the highest revenue provided is 37800/-.</a:t>
            </a:r>
          </a:p>
          <a:p>
            <a:pPr marL="285750" indent="-285750">
              <a:buFont typeface="Wingdings" panose="05000000000000000000" pitchFamily="2" charset="2"/>
              <a:buChar char="v"/>
            </a:pPr>
            <a:r>
              <a:rPr lang="en-US" sz="2000" dirty="0">
                <a:solidFill>
                  <a:srgbClr val="000000"/>
                </a:solidFill>
                <a:ea typeface="Koho"/>
                <a:cs typeface="Koho"/>
                <a:sym typeface="Koho"/>
              </a:rPr>
              <a:t>This has been performed using inner join and group by methods.</a:t>
            </a:r>
          </a:p>
          <a:p>
            <a:endParaRPr lang="en-US" dirty="0">
              <a:solidFill>
                <a:srgbClr val="000000"/>
              </a:solidFill>
              <a:latin typeface="Koho"/>
              <a:ea typeface="Koho"/>
              <a:cs typeface="Koho"/>
              <a:sym typeface="Koho"/>
            </a:endParaRPr>
          </a:p>
          <a:p>
            <a:endParaRPr lang="en-IN" dirty="0"/>
          </a:p>
        </p:txBody>
      </p:sp>
    </p:spTree>
    <p:extLst>
      <p:ext uri="{BB962C8B-B14F-4D97-AF65-F5344CB8AC3E}">
        <p14:creationId xmlns:p14="http://schemas.microsoft.com/office/powerpoint/2010/main" val="3023725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ySQL Workbench">
            <a:extLst>
              <a:ext uri="{FF2B5EF4-FFF2-40B4-BE49-F238E27FC236}">
                <a16:creationId xmlns:a16="http://schemas.microsoft.com/office/drawing/2014/main" id="{E777F924-7229-4A4E-9568-007E4E90D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3869635"/>
          </a:xfrm>
          <a:prstGeom prst="rect">
            <a:avLst/>
          </a:prstGeom>
        </p:spPr>
      </p:pic>
      <p:sp>
        <p:nvSpPr>
          <p:cNvPr id="4" name="TextBox 3">
            <a:extLst>
              <a:ext uri="{FF2B5EF4-FFF2-40B4-BE49-F238E27FC236}">
                <a16:creationId xmlns:a16="http://schemas.microsoft.com/office/drawing/2014/main" id="{5509B2AC-FF77-473B-89E2-FBCF65BA8A70}"/>
              </a:ext>
            </a:extLst>
          </p:cNvPr>
          <p:cNvSpPr txBox="1"/>
          <p:nvPr/>
        </p:nvSpPr>
        <p:spPr>
          <a:xfrm>
            <a:off x="0" y="4161182"/>
            <a:ext cx="5698435" cy="461665"/>
          </a:xfrm>
          <a:prstGeom prst="rect">
            <a:avLst/>
          </a:prstGeom>
          <a:noFill/>
        </p:spPr>
        <p:txBody>
          <a:bodyPr wrap="square" rtlCol="0">
            <a:spAutoFit/>
          </a:bodyPr>
          <a:lstStyle/>
          <a:p>
            <a:r>
              <a:rPr lang="en-US" sz="2400" b="1" dirty="0">
                <a:solidFill>
                  <a:srgbClr val="002060"/>
                </a:solidFill>
                <a:latin typeface="Javanese Text" panose="02000000000000000000" pitchFamily="2" charset="0"/>
              </a:rPr>
              <a:t>7. Segment Customers by Total Spend</a:t>
            </a:r>
            <a:endParaRPr lang="en-IN" sz="2400" b="1" dirty="0">
              <a:solidFill>
                <a:srgbClr val="002060"/>
              </a:solidFill>
              <a:latin typeface="Javanese Text" panose="02000000000000000000" pitchFamily="2" charset="0"/>
            </a:endParaRPr>
          </a:p>
        </p:txBody>
      </p:sp>
      <p:sp>
        <p:nvSpPr>
          <p:cNvPr id="2" name="TextBox 1">
            <a:extLst>
              <a:ext uri="{FF2B5EF4-FFF2-40B4-BE49-F238E27FC236}">
                <a16:creationId xmlns:a16="http://schemas.microsoft.com/office/drawing/2014/main" id="{62E687EC-E519-4FE4-BB89-E9F89EB551AB}"/>
              </a:ext>
            </a:extLst>
          </p:cNvPr>
          <p:cNvSpPr txBox="1"/>
          <p:nvPr/>
        </p:nvSpPr>
        <p:spPr>
          <a:xfrm>
            <a:off x="-106017" y="4757531"/>
            <a:ext cx="12192001" cy="2800767"/>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Javanese Text" panose="02000000000000000000" pitchFamily="2" charset="0"/>
              </a:rPr>
              <a:t>High-value Customers contribute the majority of revenue. They should be targeted for loyalty programs, premium offers, and personalized promotions.</a:t>
            </a: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rPr>
              <a:t>Customers have been classified in to 3 different categories based on the amount spent.</a:t>
            </a: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The customers spent above 10000 has been classified as high where as customers spent between 1000 to 9999 has been classified as medium.</a:t>
            </a:r>
          </a:p>
          <a:p>
            <a:pPr marL="285750" indent="-285750">
              <a:buFont typeface="Wingdings" panose="05000000000000000000" pitchFamily="2" charset="2"/>
              <a:buChar char="v"/>
            </a:pPr>
            <a:r>
              <a:rPr lang="en-US" sz="2000" dirty="0">
                <a:solidFill>
                  <a:srgbClr val="000000"/>
                </a:solidFill>
                <a:latin typeface="Javanese Text" panose="02000000000000000000" pitchFamily="2" charset="0"/>
                <a:ea typeface="Koho"/>
                <a:cs typeface="Koho"/>
                <a:sym typeface="Koho"/>
              </a:rPr>
              <a:t>Remaining customers spent below 1000 are classified as low.</a:t>
            </a:r>
          </a:p>
          <a:p>
            <a:endParaRPr lang="en-US" sz="2000" dirty="0">
              <a:solidFill>
                <a:srgbClr val="000000"/>
              </a:solidFill>
              <a:latin typeface="Javanese Text" panose="02000000000000000000" pitchFamily="2" charset="0"/>
              <a:ea typeface="Koho"/>
              <a:cs typeface="Koho"/>
              <a:sym typeface="Koho"/>
            </a:endParaRPr>
          </a:p>
          <a:p>
            <a:endParaRPr lang="en-US" dirty="0">
              <a:solidFill>
                <a:srgbClr val="000000"/>
              </a:solidFill>
              <a:latin typeface="Koho"/>
            </a:endParaRPr>
          </a:p>
          <a:p>
            <a:endParaRPr lang="en-IN" dirty="0"/>
          </a:p>
        </p:txBody>
      </p:sp>
    </p:spTree>
    <p:extLst>
      <p:ext uri="{BB962C8B-B14F-4D97-AF65-F5344CB8AC3E}">
        <p14:creationId xmlns:p14="http://schemas.microsoft.com/office/powerpoint/2010/main" val="430024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ySQL Workbench">
            <a:extLst>
              <a:ext uri="{FF2B5EF4-FFF2-40B4-BE49-F238E27FC236}">
                <a16:creationId xmlns:a16="http://schemas.microsoft.com/office/drawing/2014/main" id="{7C942919-D4DD-48DD-BB03-67702D2D1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094922"/>
          </a:xfrm>
          <a:prstGeom prst="rect">
            <a:avLst/>
          </a:prstGeom>
        </p:spPr>
      </p:pic>
      <p:sp>
        <p:nvSpPr>
          <p:cNvPr id="4" name="TextBox 3">
            <a:extLst>
              <a:ext uri="{FF2B5EF4-FFF2-40B4-BE49-F238E27FC236}">
                <a16:creationId xmlns:a16="http://schemas.microsoft.com/office/drawing/2014/main" id="{572FB7DD-1254-4D19-8BC1-61D59296B90D}"/>
              </a:ext>
            </a:extLst>
          </p:cNvPr>
          <p:cNvSpPr txBox="1"/>
          <p:nvPr/>
        </p:nvSpPr>
        <p:spPr>
          <a:xfrm>
            <a:off x="0" y="4280454"/>
            <a:ext cx="4890052" cy="461665"/>
          </a:xfrm>
          <a:prstGeom prst="rect">
            <a:avLst/>
          </a:prstGeom>
          <a:noFill/>
        </p:spPr>
        <p:txBody>
          <a:bodyPr wrap="square" rtlCol="0">
            <a:spAutoFit/>
          </a:bodyPr>
          <a:lstStyle/>
          <a:p>
            <a:r>
              <a:rPr lang="en-IN" sz="2400" b="1" dirty="0">
                <a:solidFill>
                  <a:srgbClr val="002060"/>
                </a:solidFill>
                <a:latin typeface="Javanese Text" panose="02000000000000000000" pitchFamily="2" charset="0"/>
              </a:rPr>
              <a:t>8. Staff Performance Analysis</a:t>
            </a:r>
          </a:p>
        </p:txBody>
      </p:sp>
      <p:sp>
        <p:nvSpPr>
          <p:cNvPr id="2" name="TextBox 1">
            <a:extLst>
              <a:ext uri="{FF2B5EF4-FFF2-40B4-BE49-F238E27FC236}">
                <a16:creationId xmlns:a16="http://schemas.microsoft.com/office/drawing/2014/main" id="{50562CA1-A71C-4B90-A283-9EDB93175A33}"/>
              </a:ext>
            </a:extLst>
          </p:cNvPr>
          <p:cNvSpPr txBox="1"/>
          <p:nvPr/>
        </p:nvSpPr>
        <p:spPr>
          <a:xfrm>
            <a:off x="0" y="4742119"/>
            <a:ext cx="11913705" cy="1785104"/>
          </a:xfrm>
          <a:prstGeom prst="rect">
            <a:avLst/>
          </a:prstGeom>
          <a:noFill/>
        </p:spPr>
        <p:txBody>
          <a:bodyPr wrap="square" rtlCol="0">
            <a:spAutoFit/>
          </a:bodyPr>
          <a:lstStyle/>
          <a:p>
            <a:r>
              <a:rPr lang="en-IN" sz="2000" b="1" dirty="0">
                <a:solidFill>
                  <a:srgbClr val="002060"/>
                </a:solidFill>
              </a:rPr>
              <a:t>🔎 Insights</a:t>
            </a:r>
          </a:p>
          <a:p>
            <a:r>
              <a:rPr lang="en-US" b="1" dirty="0"/>
              <a:t>Top Performers:</a:t>
            </a:r>
            <a:endParaRPr lang="en-US" dirty="0"/>
          </a:p>
          <a:p>
            <a:r>
              <a:rPr lang="en-US" dirty="0"/>
              <a:t>Staff (ID 6) and (ID 7) are leading with 1,600+ orders each and generating nearly ₹2.9M revenue each.</a:t>
            </a:r>
          </a:p>
          <a:p>
            <a:r>
              <a:rPr lang="en-IN" b="1" dirty="0"/>
              <a:t>Low Performers:</a:t>
            </a:r>
            <a:endParaRPr lang="en-US" b="1" dirty="0"/>
          </a:p>
          <a:p>
            <a:r>
              <a:rPr lang="en-US" dirty="0"/>
              <a:t>Staff (ID 8) and (ID 9) handled the fewest orders (&lt; 270) and generated the lowest revenue (&lt; ₹520k).</a:t>
            </a:r>
          </a:p>
          <a:p>
            <a:endParaRPr lang="en-IN" b="1" dirty="0">
              <a:solidFill>
                <a:srgbClr val="002060"/>
              </a:solidFill>
            </a:endParaRPr>
          </a:p>
        </p:txBody>
      </p:sp>
    </p:spTree>
    <p:extLst>
      <p:ext uri="{BB962C8B-B14F-4D97-AF65-F5344CB8AC3E}">
        <p14:creationId xmlns:p14="http://schemas.microsoft.com/office/powerpoint/2010/main" val="761994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ySQL Workbench">
            <a:extLst>
              <a:ext uri="{FF2B5EF4-FFF2-40B4-BE49-F238E27FC236}">
                <a16:creationId xmlns:a16="http://schemas.microsoft.com/office/drawing/2014/main" id="{FBBE1D7F-24B9-48E8-BADC-E30B603524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3975652"/>
          </a:xfrm>
          <a:prstGeom prst="rect">
            <a:avLst/>
          </a:prstGeom>
        </p:spPr>
      </p:pic>
      <p:sp>
        <p:nvSpPr>
          <p:cNvPr id="7" name="TextBox 6">
            <a:extLst>
              <a:ext uri="{FF2B5EF4-FFF2-40B4-BE49-F238E27FC236}">
                <a16:creationId xmlns:a16="http://schemas.microsoft.com/office/drawing/2014/main" id="{EBA36CEF-FCF6-4FF4-8A22-B786565E490D}"/>
              </a:ext>
            </a:extLst>
          </p:cNvPr>
          <p:cNvSpPr txBox="1"/>
          <p:nvPr/>
        </p:nvSpPr>
        <p:spPr>
          <a:xfrm>
            <a:off x="0" y="4232149"/>
            <a:ext cx="4412974" cy="523220"/>
          </a:xfrm>
          <a:prstGeom prst="rect">
            <a:avLst/>
          </a:prstGeom>
          <a:noFill/>
        </p:spPr>
        <p:txBody>
          <a:bodyPr wrap="square" rtlCol="0">
            <a:spAutoFit/>
          </a:bodyPr>
          <a:lstStyle/>
          <a:p>
            <a:r>
              <a:rPr lang="en-IN" sz="2800" b="1" dirty="0">
                <a:solidFill>
                  <a:srgbClr val="002060"/>
                </a:solidFill>
                <a:latin typeface="Javanese Text" panose="02000000000000000000" pitchFamily="2" charset="0"/>
              </a:rPr>
              <a:t>9. Stock Alert Query</a:t>
            </a:r>
          </a:p>
        </p:txBody>
      </p:sp>
      <p:sp>
        <p:nvSpPr>
          <p:cNvPr id="2" name="TextBox 1">
            <a:extLst>
              <a:ext uri="{FF2B5EF4-FFF2-40B4-BE49-F238E27FC236}">
                <a16:creationId xmlns:a16="http://schemas.microsoft.com/office/drawing/2014/main" id="{10AFE5E6-F30A-4268-8255-6095A35311F3}"/>
              </a:ext>
            </a:extLst>
          </p:cNvPr>
          <p:cNvSpPr txBox="1"/>
          <p:nvPr/>
        </p:nvSpPr>
        <p:spPr>
          <a:xfrm>
            <a:off x="0" y="4755369"/>
            <a:ext cx="11423374" cy="1908215"/>
          </a:xfrm>
          <a:prstGeom prst="rect">
            <a:avLst/>
          </a:prstGeom>
          <a:noFill/>
        </p:spPr>
        <p:txBody>
          <a:bodyPr wrap="square" rtlCol="0">
            <a:spAutoFit/>
          </a:bodyPr>
          <a:lstStyle/>
          <a:p>
            <a:pPr marL="342900" indent="-342900">
              <a:buFont typeface="Wingdings" panose="05000000000000000000" pitchFamily="2" charset="2"/>
              <a:buChar char="v"/>
            </a:pPr>
            <a:r>
              <a:rPr lang="en-US" sz="2000" dirty="0">
                <a:solidFill>
                  <a:srgbClr val="000000"/>
                </a:solidFill>
                <a:latin typeface="Javanese Text" panose="02000000000000000000" pitchFamily="2" charset="0"/>
              </a:rPr>
              <a:t>Out of 321 products, only 2 products have less than 10 quantity of stocks overall.</a:t>
            </a:r>
          </a:p>
          <a:p>
            <a:endParaRPr lang="en-US" sz="2000" dirty="0">
              <a:latin typeface="Javanese Text" panose="02000000000000000000" pitchFamily="2" charset="0"/>
            </a:endParaRPr>
          </a:p>
          <a:p>
            <a:r>
              <a:rPr lang="en-US" sz="2000" dirty="0">
                <a:latin typeface="Javanese Text" panose="02000000000000000000" pitchFamily="2" charset="0"/>
              </a:rPr>
              <a:t>Business Impact:</a:t>
            </a:r>
          </a:p>
          <a:p>
            <a:pPr marL="342900" indent="-342900">
              <a:buFont typeface="Wingdings" panose="05000000000000000000" pitchFamily="2" charset="2"/>
              <a:buChar char="v"/>
            </a:pPr>
            <a:r>
              <a:rPr lang="en-US" sz="2000" dirty="0">
                <a:latin typeface="Javanese Text" panose="02000000000000000000" pitchFamily="2" charset="0"/>
              </a:rPr>
              <a:t>If these are high-demand products, sales may be lost due to stockouts.</a:t>
            </a:r>
          </a:p>
          <a:p>
            <a:pPr marL="342900" indent="-342900">
              <a:buFont typeface="Wingdings" panose="05000000000000000000" pitchFamily="2" charset="2"/>
              <a:buChar char="v"/>
            </a:pPr>
            <a:r>
              <a:rPr lang="en-US" sz="2000" dirty="0">
                <a:latin typeface="Javanese Text" panose="02000000000000000000" pitchFamily="2" charset="0"/>
              </a:rPr>
              <a:t>If suppliers take time to deliver, urgent reorder placement is required.</a:t>
            </a:r>
          </a:p>
          <a:p>
            <a:endParaRPr lang="en-IN" dirty="0"/>
          </a:p>
        </p:txBody>
      </p:sp>
    </p:spTree>
    <p:extLst>
      <p:ext uri="{BB962C8B-B14F-4D97-AF65-F5344CB8AC3E}">
        <p14:creationId xmlns:p14="http://schemas.microsoft.com/office/powerpoint/2010/main" val="4033772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103E6B-CE71-4CC3-A112-028A56A7915F}"/>
              </a:ext>
            </a:extLst>
          </p:cNvPr>
          <p:cNvSpPr txBox="1"/>
          <p:nvPr/>
        </p:nvSpPr>
        <p:spPr>
          <a:xfrm>
            <a:off x="13252" y="4539950"/>
            <a:ext cx="6082748" cy="461665"/>
          </a:xfrm>
          <a:prstGeom prst="rect">
            <a:avLst/>
          </a:prstGeom>
          <a:noFill/>
        </p:spPr>
        <p:txBody>
          <a:bodyPr wrap="square" rtlCol="0">
            <a:spAutoFit/>
          </a:bodyPr>
          <a:lstStyle/>
          <a:p>
            <a:r>
              <a:rPr lang="en-US" sz="2400" b="1" dirty="0">
                <a:solidFill>
                  <a:srgbClr val="002060"/>
                </a:solidFill>
                <a:latin typeface="Javanese Text" panose="02000000000000000000" pitchFamily="2" charset="0"/>
              </a:rPr>
              <a:t>10.Create Final Segmentation Table</a:t>
            </a:r>
            <a:endParaRPr lang="en-IN" sz="2400" b="1" dirty="0">
              <a:solidFill>
                <a:srgbClr val="002060"/>
              </a:solidFill>
              <a:latin typeface="Javanese Text" panose="02000000000000000000" pitchFamily="2" charset="0"/>
            </a:endParaRPr>
          </a:p>
        </p:txBody>
      </p:sp>
      <p:pic>
        <p:nvPicPr>
          <p:cNvPr id="5" name="Picture 4" descr="MySQL Workbench">
            <a:extLst>
              <a:ext uri="{FF2B5EF4-FFF2-40B4-BE49-F238E27FC236}">
                <a16:creationId xmlns:a16="http://schemas.microsoft.com/office/drawing/2014/main" id="{E5F19B84-C5BF-45A6-8D90-901A8344B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333461"/>
          </a:xfrm>
          <a:prstGeom prst="rect">
            <a:avLst/>
          </a:prstGeom>
        </p:spPr>
      </p:pic>
      <p:sp>
        <p:nvSpPr>
          <p:cNvPr id="6" name="TextBox 5">
            <a:extLst>
              <a:ext uri="{FF2B5EF4-FFF2-40B4-BE49-F238E27FC236}">
                <a16:creationId xmlns:a16="http://schemas.microsoft.com/office/drawing/2014/main" id="{25C29803-1355-4D10-BBBB-108FEF876D1C}"/>
              </a:ext>
            </a:extLst>
          </p:cNvPr>
          <p:cNvSpPr txBox="1"/>
          <p:nvPr/>
        </p:nvSpPr>
        <p:spPr>
          <a:xfrm>
            <a:off x="0" y="5046916"/>
            <a:ext cx="9144000" cy="2215991"/>
          </a:xfrm>
          <a:prstGeom prst="rect">
            <a:avLst/>
          </a:prstGeom>
          <a:noFill/>
        </p:spPr>
        <p:txBody>
          <a:bodyPr wrap="square" rtlCol="0">
            <a:spAutoFit/>
          </a:bodyPr>
          <a:lstStyle/>
          <a:p>
            <a:pPr marL="457200" indent="-457200">
              <a:buFont typeface="Wingdings" panose="05000000000000000000" pitchFamily="2" charset="2"/>
              <a:buChar char="v"/>
            </a:pPr>
            <a:r>
              <a:rPr lang="en-US" sz="2000" dirty="0">
                <a:latin typeface="Javanese Text" panose="02000000000000000000" pitchFamily="2" charset="0"/>
              </a:rPr>
              <a:t>Focus on Loyal Customers → Keep them happy, as they drive most revenue.</a:t>
            </a:r>
          </a:p>
          <a:p>
            <a:pPr marL="457200" indent="-457200">
              <a:buFont typeface="Wingdings" panose="05000000000000000000" pitchFamily="2" charset="2"/>
              <a:buChar char="v"/>
            </a:pPr>
            <a:r>
              <a:rPr lang="en-US" sz="2000" dirty="0">
                <a:latin typeface="Javanese Text" panose="02000000000000000000" pitchFamily="2" charset="0"/>
              </a:rPr>
              <a:t>Recover At-Risk Customers → They can bring additional revenue if re-engaged.</a:t>
            </a:r>
          </a:p>
          <a:p>
            <a:pPr marL="457200" indent="-457200">
              <a:buFont typeface="Wingdings" panose="05000000000000000000" pitchFamily="2" charset="2"/>
              <a:buChar char="v"/>
            </a:pPr>
            <a:r>
              <a:rPr lang="en-US" sz="2000" dirty="0">
                <a:latin typeface="Javanese Text" panose="02000000000000000000" pitchFamily="2" charset="0"/>
              </a:rPr>
              <a:t>Grow New Customers → Guide them toward becoming loyal.</a:t>
            </a:r>
          </a:p>
          <a:p>
            <a:pPr marL="457200" indent="-457200">
              <a:buFont typeface="Wingdings" panose="05000000000000000000" pitchFamily="2" charset="2"/>
              <a:buChar char="v"/>
            </a:pPr>
            <a:r>
              <a:rPr lang="en-US" sz="2000" dirty="0">
                <a:latin typeface="Javanese Text" panose="02000000000000000000" pitchFamily="2" charset="0"/>
              </a:rPr>
              <a:t>Monitor Need Attention Group → They can either grow into loyal or slip into at-risk.</a:t>
            </a:r>
          </a:p>
          <a:p>
            <a:endParaRPr lang="en-IN" dirty="0"/>
          </a:p>
        </p:txBody>
      </p:sp>
      <p:sp>
        <p:nvSpPr>
          <p:cNvPr id="8" name="TextBox 7">
            <a:extLst>
              <a:ext uri="{FF2B5EF4-FFF2-40B4-BE49-F238E27FC236}">
                <a16:creationId xmlns:a16="http://schemas.microsoft.com/office/drawing/2014/main" id="{898AD3D7-101D-437D-9A8C-AC1ADD1B0160}"/>
              </a:ext>
            </a:extLst>
          </p:cNvPr>
          <p:cNvSpPr txBox="1"/>
          <p:nvPr/>
        </p:nvSpPr>
        <p:spPr>
          <a:xfrm>
            <a:off x="8468139" y="4525177"/>
            <a:ext cx="3021495" cy="2030459"/>
          </a:xfrm>
          <a:prstGeom prst="rect">
            <a:avLst/>
          </a:prstGeom>
          <a:noFill/>
        </p:spPr>
        <p:txBody>
          <a:bodyPr wrap="square" rtlCol="0">
            <a:spAutoFit/>
          </a:bodyPr>
          <a:lstStyle/>
          <a:p>
            <a:endParaRPr lang="en-IN" dirty="0"/>
          </a:p>
        </p:txBody>
      </p:sp>
      <p:graphicFrame>
        <p:nvGraphicFramePr>
          <p:cNvPr id="9" name="Table 8">
            <a:extLst>
              <a:ext uri="{FF2B5EF4-FFF2-40B4-BE49-F238E27FC236}">
                <a16:creationId xmlns:a16="http://schemas.microsoft.com/office/drawing/2014/main" id="{FB3B7639-046D-4739-82C6-95B07664F146}"/>
              </a:ext>
            </a:extLst>
          </p:cNvPr>
          <p:cNvGraphicFramePr>
            <a:graphicFrameLocks noGrp="1"/>
          </p:cNvGraphicFramePr>
          <p:nvPr>
            <p:extLst>
              <p:ext uri="{D42A27DB-BD31-4B8C-83A1-F6EECF244321}">
                <p14:modId xmlns:p14="http://schemas.microsoft.com/office/powerpoint/2010/main" val="3601493330"/>
              </p:ext>
            </p:extLst>
          </p:nvPr>
        </p:nvGraphicFramePr>
        <p:xfrm>
          <a:off x="9157252" y="4378762"/>
          <a:ext cx="3021495" cy="2225601"/>
        </p:xfrm>
        <a:graphic>
          <a:graphicData uri="http://schemas.openxmlformats.org/drawingml/2006/table">
            <a:tbl>
              <a:tblPr firstRow="1" bandRow="1">
                <a:tableStyleId>{073A0DAA-6AF3-43AB-8588-CEC1D06C72B9}</a:tableStyleId>
              </a:tblPr>
              <a:tblGrid>
                <a:gridCol w="1133060">
                  <a:extLst>
                    <a:ext uri="{9D8B030D-6E8A-4147-A177-3AD203B41FA5}">
                      <a16:colId xmlns:a16="http://schemas.microsoft.com/office/drawing/2014/main" val="3122247783"/>
                    </a:ext>
                  </a:extLst>
                </a:gridCol>
                <a:gridCol w="1888435">
                  <a:extLst>
                    <a:ext uri="{9D8B030D-6E8A-4147-A177-3AD203B41FA5}">
                      <a16:colId xmlns:a16="http://schemas.microsoft.com/office/drawing/2014/main" val="4201170592"/>
                    </a:ext>
                  </a:extLst>
                </a:gridCol>
              </a:tblGrid>
              <a:tr h="481430">
                <a:tc>
                  <a:txBody>
                    <a:bodyPr/>
                    <a:lstStyle/>
                    <a:p>
                      <a:pPr algn="ctr"/>
                      <a:r>
                        <a:rPr lang="en-US" sz="1600" b="1" dirty="0"/>
                        <a:t>Segments</a:t>
                      </a:r>
                      <a:endParaRPr lang="en-IN" sz="1600" b="1" dirty="0"/>
                    </a:p>
                  </a:txBody>
                  <a:tcPr/>
                </a:tc>
                <a:tc>
                  <a:txBody>
                    <a:bodyPr/>
                    <a:lstStyle/>
                    <a:p>
                      <a:pPr algn="ctr"/>
                      <a:r>
                        <a:rPr lang="en-US" sz="1600" b="1" dirty="0"/>
                        <a:t>Type of Segments</a:t>
                      </a:r>
                      <a:endParaRPr lang="en-IN" sz="1600" b="1" dirty="0"/>
                    </a:p>
                  </a:txBody>
                  <a:tcPr/>
                </a:tc>
                <a:extLst>
                  <a:ext uri="{0D108BD9-81ED-4DB2-BD59-A6C34878D82A}">
                    <a16:rowId xmlns:a16="http://schemas.microsoft.com/office/drawing/2014/main" val="778317940"/>
                  </a:ext>
                </a:extLst>
              </a:tr>
              <a:tr h="328599">
                <a:tc>
                  <a:txBody>
                    <a:bodyPr/>
                    <a:lstStyle/>
                    <a:p>
                      <a:pPr algn="ctr"/>
                      <a:r>
                        <a:rPr lang="en-US" sz="1400" b="1" kern="1200" dirty="0">
                          <a:solidFill>
                            <a:schemeClr val="dk1"/>
                          </a:solidFill>
                          <a:latin typeface="+mn-lt"/>
                          <a:ea typeface="+mn-ea"/>
                          <a:cs typeface="+mn-cs"/>
                        </a:rPr>
                        <a:t>0</a:t>
                      </a:r>
                      <a:endParaRPr lang="en-IN" sz="1400" b="1" kern="1200" dirty="0">
                        <a:solidFill>
                          <a:schemeClr val="dk1"/>
                        </a:solidFill>
                        <a:latin typeface="+mn-lt"/>
                        <a:ea typeface="+mn-ea"/>
                        <a:cs typeface="+mn-cs"/>
                      </a:endParaRPr>
                    </a:p>
                  </a:txBody>
                  <a:tcPr anchor="ctr"/>
                </a:tc>
                <a:tc>
                  <a:txBody>
                    <a:bodyPr/>
                    <a:lstStyle/>
                    <a:p>
                      <a:pPr algn="ctr"/>
                      <a:r>
                        <a:rPr lang="en-US" sz="1400" b="1" kern="1200" dirty="0">
                          <a:solidFill>
                            <a:schemeClr val="dk1"/>
                          </a:solidFill>
                          <a:latin typeface="+mn-lt"/>
                          <a:ea typeface="+mn-ea"/>
                          <a:cs typeface="+mn-cs"/>
                        </a:rPr>
                        <a:t>At-risk</a:t>
                      </a:r>
                      <a:endParaRPr lang="en-IN" sz="1400" b="1" kern="1200" dirty="0">
                        <a:solidFill>
                          <a:schemeClr val="dk1"/>
                        </a:solidFill>
                        <a:latin typeface="+mn-lt"/>
                        <a:ea typeface="+mn-ea"/>
                        <a:cs typeface="+mn-cs"/>
                      </a:endParaRPr>
                    </a:p>
                  </a:txBody>
                  <a:tcPr anchor="ctr"/>
                </a:tc>
                <a:extLst>
                  <a:ext uri="{0D108BD9-81ED-4DB2-BD59-A6C34878D82A}">
                    <a16:rowId xmlns:a16="http://schemas.microsoft.com/office/drawing/2014/main" val="671121038"/>
                  </a:ext>
                </a:extLst>
              </a:tr>
              <a:tr h="517831">
                <a:tc>
                  <a:txBody>
                    <a:bodyPr/>
                    <a:lstStyle/>
                    <a:p>
                      <a:pPr algn="ctr"/>
                      <a:r>
                        <a:rPr lang="en-US" sz="1400" b="1" kern="1200" dirty="0">
                          <a:solidFill>
                            <a:schemeClr val="dk1"/>
                          </a:solidFill>
                          <a:latin typeface="+mn-lt"/>
                          <a:ea typeface="+mn-ea"/>
                          <a:cs typeface="+mn-cs"/>
                        </a:rPr>
                        <a:t>1</a:t>
                      </a:r>
                      <a:endParaRPr lang="en-IN" sz="1400" b="1" kern="1200" dirty="0">
                        <a:solidFill>
                          <a:schemeClr val="dk1"/>
                        </a:solidFill>
                        <a:latin typeface="+mn-lt"/>
                        <a:ea typeface="+mn-ea"/>
                        <a:cs typeface="+mn-cs"/>
                      </a:endParaRPr>
                    </a:p>
                  </a:txBody>
                  <a:tcPr anchor="ctr"/>
                </a:tc>
                <a:tc>
                  <a:txBody>
                    <a:bodyPr/>
                    <a:lstStyle/>
                    <a:p>
                      <a:pPr algn="ctr"/>
                      <a:r>
                        <a:rPr lang="en-US" sz="1400" b="1" kern="1200" dirty="0">
                          <a:solidFill>
                            <a:schemeClr val="dk1"/>
                          </a:solidFill>
                          <a:latin typeface="+mn-lt"/>
                          <a:ea typeface="+mn-ea"/>
                          <a:cs typeface="+mn-cs"/>
                        </a:rPr>
                        <a:t>Loyal</a:t>
                      </a:r>
                      <a:endParaRPr lang="en-IN" sz="1400" b="1" kern="1200" dirty="0">
                        <a:solidFill>
                          <a:schemeClr val="dk1"/>
                        </a:solidFill>
                        <a:latin typeface="+mn-lt"/>
                        <a:ea typeface="+mn-ea"/>
                        <a:cs typeface="+mn-cs"/>
                      </a:endParaRPr>
                    </a:p>
                  </a:txBody>
                  <a:tcPr anchor="ctr"/>
                </a:tc>
                <a:extLst>
                  <a:ext uri="{0D108BD9-81ED-4DB2-BD59-A6C34878D82A}">
                    <a16:rowId xmlns:a16="http://schemas.microsoft.com/office/drawing/2014/main" val="3750140206"/>
                  </a:ext>
                </a:extLst>
              </a:tr>
              <a:tr h="569142">
                <a:tc>
                  <a:txBody>
                    <a:bodyPr/>
                    <a:lstStyle/>
                    <a:p>
                      <a:pPr algn="ctr"/>
                      <a:r>
                        <a:rPr lang="en-US" sz="1400" b="1" kern="1200" dirty="0">
                          <a:solidFill>
                            <a:schemeClr val="dk1"/>
                          </a:solidFill>
                          <a:latin typeface="+mn-lt"/>
                          <a:ea typeface="+mn-ea"/>
                          <a:cs typeface="+mn-cs"/>
                        </a:rPr>
                        <a:t>2</a:t>
                      </a:r>
                      <a:endParaRPr lang="en-IN" sz="1400" b="1" kern="1200" dirty="0">
                        <a:solidFill>
                          <a:schemeClr val="dk1"/>
                        </a:solidFill>
                        <a:latin typeface="+mn-lt"/>
                        <a:ea typeface="+mn-ea"/>
                        <a:cs typeface="+mn-cs"/>
                      </a:endParaRPr>
                    </a:p>
                  </a:txBody>
                  <a:tcPr anchor="ctr"/>
                </a:tc>
                <a:tc>
                  <a:txBody>
                    <a:bodyPr/>
                    <a:lstStyle/>
                    <a:p>
                      <a:pPr algn="ctr"/>
                      <a:r>
                        <a:rPr lang="en-US" sz="1400" b="1" kern="1200" dirty="0">
                          <a:solidFill>
                            <a:schemeClr val="dk1"/>
                          </a:solidFill>
                          <a:latin typeface="+mn-lt"/>
                          <a:ea typeface="+mn-ea"/>
                          <a:cs typeface="+mn-cs"/>
                        </a:rPr>
                        <a:t>New</a:t>
                      </a:r>
                      <a:endParaRPr lang="en-IN" sz="1400" b="1" kern="1200" dirty="0">
                        <a:solidFill>
                          <a:schemeClr val="dk1"/>
                        </a:solidFill>
                        <a:latin typeface="+mn-lt"/>
                        <a:ea typeface="+mn-ea"/>
                        <a:cs typeface="+mn-cs"/>
                      </a:endParaRPr>
                    </a:p>
                  </a:txBody>
                  <a:tcPr anchor="ctr"/>
                </a:tc>
                <a:extLst>
                  <a:ext uri="{0D108BD9-81ED-4DB2-BD59-A6C34878D82A}">
                    <a16:rowId xmlns:a16="http://schemas.microsoft.com/office/drawing/2014/main" val="1526875774"/>
                  </a:ext>
                </a:extLst>
              </a:tr>
              <a:tr h="328599">
                <a:tc>
                  <a:txBody>
                    <a:bodyPr/>
                    <a:lstStyle/>
                    <a:p>
                      <a:pPr algn="ctr"/>
                      <a:r>
                        <a:rPr lang="en-US" sz="1400" b="1" kern="1200" dirty="0">
                          <a:solidFill>
                            <a:schemeClr val="dk1"/>
                          </a:solidFill>
                          <a:latin typeface="+mn-lt"/>
                          <a:ea typeface="+mn-ea"/>
                          <a:cs typeface="+mn-cs"/>
                        </a:rPr>
                        <a:t>3</a:t>
                      </a:r>
                      <a:endParaRPr lang="en-IN" sz="1400" b="1" kern="1200" dirty="0">
                        <a:solidFill>
                          <a:schemeClr val="dk1"/>
                        </a:solidFill>
                        <a:latin typeface="+mn-lt"/>
                        <a:ea typeface="+mn-ea"/>
                        <a:cs typeface="+mn-cs"/>
                      </a:endParaRPr>
                    </a:p>
                  </a:txBody>
                  <a:tcPr anchor="ctr"/>
                </a:tc>
                <a:tc>
                  <a:txBody>
                    <a:bodyPr/>
                    <a:lstStyle/>
                    <a:p>
                      <a:pPr algn="ctr"/>
                      <a:r>
                        <a:rPr lang="en-US" sz="1400" b="1" kern="1200" dirty="0">
                          <a:solidFill>
                            <a:schemeClr val="dk1"/>
                          </a:solidFill>
                          <a:latin typeface="+mn-lt"/>
                          <a:ea typeface="+mn-ea"/>
                          <a:cs typeface="+mn-cs"/>
                        </a:rPr>
                        <a:t>Need attention</a:t>
                      </a:r>
                      <a:endParaRPr lang="en-IN" sz="1400" b="1" kern="1200" dirty="0">
                        <a:solidFill>
                          <a:schemeClr val="dk1"/>
                        </a:solidFill>
                        <a:latin typeface="+mn-lt"/>
                        <a:ea typeface="+mn-ea"/>
                        <a:cs typeface="+mn-cs"/>
                      </a:endParaRPr>
                    </a:p>
                  </a:txBody>
                  <a:tcPr anchor="ctr"/>
                </a:tc>
                <a:extLst>
                  <a:ext uri="{0D108BD9-81ED-4DB2-BD59-A6C34878D82A}">
                    <a16:rowId xmlns:a16="http://schemas.microsoft.com/office/drawing/2014/main" val="2095607719"/>
                  </a:ext>
                </a:extLst>
              </a:tr>
            </a:tbl>
          </a:graphicData>
        </a:graphic>
      </p:graphicFrame>
    </p:spTree>
    <p:extLst>
      <p:ext uri="{BB962C8B-B14F-4D97-AF65-F5344CB8AC3E}">
        <p14:creationId xmlns:p14="http://schemas.microsoft.com/office/powerpoint/2010/main" val="3702919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87DF6E-20AD-4DDB-8DD8-E1B5083A5862}"/>
              </a:ext>
            </a:extLst>
          </p:cNvPr>
          <p:cNvSpPr txBox="1"/>
          <p:nvPr/>
        </p:nvSpPr>
        <p:spPr>
          <a:xfrm>
            <a:off x="0" y="993913"/>
            <a:ext cx="6188765" cy="1323439"/>
          </a:xfrm>
          <a:prstGeom prst="rect">
            <a:avLst/>
          </a:prstGeom>
          <a:noFill/>
        </p:spPr>
        <p:txBody>
          <a:bodyPr wrap="square" rtlCol="0">
            <a:spAutoFit/>
          </a:bodyPr>
          <a:lstStyle/>
          <a:p>
            <a:r>
              <a:rPr lang="en-IN" sz="4000" dirty="0">
                <a:solidFill>
                  <a:schemeClr val="bg1"/>
                </a:solidFill>
                <a:latin typeface="Javanese Text" panose="02000000000000000000" pitchFamily="2" charset="0"/>
              </a:rPr>
              <a:t>Power BI – Visualization &amp; Dashboarding</a:t>
            </a:r>
          </a:p>
        </p:txBody>
      </p:sp>
    </p:spTree>
    <p:extLst>
      <p:ext uri="{BB962C8B-B14F-4D97-AF65-F5344CB8AC3E}">
        <p14:creationId xmlns:p14="http://schemas.microsoft.com/office/powerpoint/2010/main" val="2912264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D1C7F2-62D5-46AF-AB76-5B99D89D30C5}"/>
              </a:ext>
            </a:extLst>
          </p:cNvPr>
          <p:cNvSpPr txBox="1"/>
          <p:nvPr/>
        </p:nvSpPr>
        <p:spPr>
          <a:xfrm>
            <a:off x="1981200" y="259906"/>
            <a:ext cx="8229600" cy="584775"/>
          </a:xfrm>
          <a:prstGeom prst="rect">
            <a:avLst/>
          </a:prstGeom>
          <a:noFill/>
        </p:spPr>
        <p:txBody>
          <a:bodyPr wrap="square" rtlCol="0">
            <a:spAutoFit/>
          </a:bodyPr>
          <a:lstStyle/>
          <a:p>
            <a:r>
              <a:rPr lang="en-IN" sz="3200" b="1" dirty="0">
                <a:solidFill>
                  <a:srgbClr val="002060"/>
                </a:solidFill>
                <a:latin typeface="Javanese Text" panose="02000000000000000000" pitchFamily="2" charset="0"/>
              </a:rPr>
              <a:t>Power BI – Visualization &amp; Dashboarding</a:t>
            </a:r>
          </a:p>
        </p:txBody>
      </p:sp>
      <p:sp>
        <p:nvSpPr>
          <p:cNvPr id="3" name="TextBox 2">
            <a:extLst>
              <a:ext uri="{FF2B5EF4-FFF2-40B4-BE49-F238E27FC236}">
                <a16:creationId xmlns:a16="http://schemas.microsoft.com/office/drawing/2014/main" id="{3C9FEE40-1C20-47A8-A7DC-15C81BBF94E1}"/>
              </a:ext>
            </a:extLst>
          </p:cNvPr>
          <p:cNvSpPr txBox="1"/>
          <p:nvPr/>
        </p:nvSpPr>
        <p:spPr>
          <a:xfrm>
            <a:off x="0" y="1175799"/>
            <a:ext cx="5234608" cy="584775"/>
          </a:xfrm>
          <a:prstGeom prst="rect">
            <a:avLst/>
          </a:prstGeom>
          <a:noFill/>
        </p:spPr>
        <p:txBody>
          <a:bodyPr wrap="square" rtlCol="0">
            <a:spAutoFit/>
          </a:bodyPr>
          <a:lstStyle/>
          <a:p>
            <a:r>
              <a:rPr lang="en-US" sz="3200" b="1" dirty="0">
                <a:solidFill>
                  <a:srgbClr val="002060"/>
                </a:solidFill>
                <a:latin typeface="Javanese Text" panose="02000000000000000000" pitchFamily="2" charset="0"/>
              </a:rPr>
              <a:t>1.</a:t>
            </a:r>
            <a:r>
              <a:rPr lang="en-US" sz="2800" b="1" dirty="0">
                <a:solidFill>
                  <a:srgbClr val="002060"/>
                </a:solidFill>
                <a:latin typeface="Javanese Text" panose="02000000000000000000" pitchFamily="2" charset="0"/>
              </a:rPr>
              <a:t> Connect Power BI to SQL</a:t>
            </a:r>
            <a:endParaRPr lang="en-IN" sz="2800" b="1" dirty="0">
              <a:solidFill>
                <a:srgbClr val="002060"/>
              </a:solidFill>
              <a:latin typeface="Javanese Text" panose="02000000000000000000" pitchFamily="2" charset="0"/>
            </a:endParaRPr>
          </a:p>
        </p:txBody>
      </p:sp>
      <p:sp>
        <p:nvSpPr>
          <p:cNvPr id="4" name="TextBox 3">
            <a:extLst>
              <a:ext uri="{FF2B5EF4-FFF2-40B4-BE49-F238E27FC236}">
                <a16:creationId xmlns:a16="http://schemas.microsoft.com/office/drawing/2014/main" id="{0EE531CB-ADF3-4437-A5FB-1383B414D4BF}"/>
              </a:ext>
            </a:extLst>
          </p:cNvPr>
          <p:cNvSpPr txBox="1"/>
          <p:nvPr/>
        </p:nvSpPr>
        <p:spPr>
          <a:xfrm>
            <a:off x="0" y="2007634"/>
            <a:ext cx="12192000" cy="1661993"/>
          </a:xfrm>
          <a:prstGeom prst="rect">
            <a:avLst/>
          </a:prstGeom>
          <a:noFill/>
        </p:spPr>
        <p:txBody>
          <a:bodyPr wrap="square" rtlCol="0">
            <a:spAutoFit/>
          </a:bodyPr>
          <a:lstStyle/>
          <a:p>
            <a:pPr marL="285750" indent="-285750" algn="just">
              <a:buFont typeface="Wingdings" panose="05000000000000000000" pitchFamily="2" charset="2"/>
              <a:buChar char="v"/>
            </a:pPr>
            <a:r>
              <a:rPr lang="en-US" sz="2800" dirty="0">
                <a:latin typeface="Javanese Text" panose="02000000000000000000" pitchFamily="2" charset="0"/>
              </a:rPr>
              <a:t>All the dataset tables have been imported from SQL to Power BI by providing the server host number and the database name. </a:t>
            </a:r>
          </a:p>
          <a:p>
            <a:pPr marL="285750" indent="-285750" algn="just">
              <a:buFont typeface="Wingdings" panose="05000000000000000000" pitchFamily="2" charset="2"/>
              <a:buChar char="v"/>
            </a:pPr>
            <a:r>
              <a:rPr lang="en-US" sz="2800" dirty="0">
                <a:latin typeface="Javanese Text" panose="02000000000000000000" pitchFamily="2" charset="0"/>
              </a:rPr>
              <a:t>Data types have been verified and updated accordingly.</a:t>
            </a:r>
          </a:p>
          <a:p>
            <a:endParaRPr lang="en-IN" dirty="0"/>
          </a:p>
        </p:txBody>
      </p:sp>
      <p:sp>
        <p:nvSpPr>
          <p:cNvPr id="5" name="TextBox 4">
            <a:extLst>
              <a:ext uri="{FF2B5EF4-FFF2-40B4-BE49-F238E27FC236}">
                <a16:creationId xmlns:a16="http://schemas.microsoft.com/office/drawing/2014/main" id="{594B60DE-6C37-4E47-9E7A-3CB59754E0BD}"/>
              </a:ext>
            </a:extLst>
          </p:cNvPr>
          <p:cNvSpPr txBox="1"/>
          <p:nvPr/>
        </p:nvSpPr>
        <p:spPr>
          <a:xfrm>
            <a:off x="0" y="3727883"/>
            <a:ext cx="7182679" cy="523220"/>
          </a:xfrm>
          <a:prstGeom prst="rect">
            <a:avLst/>
          </a:prstGeom>
          <a:noFill/>
        </p:spPr>
        <p:txBody>
          <a:bodyPr wrap="square" rtlCol="0">
            <a:spAutoFit/>
          </a:bodyPr>
          <a:lstStyle/>
          <a:p>
            <a:r>
              <a:rPr lang="en-US" sz="2800" b="1" dirty="0">
                <a:solidFill>
                  <a:srgbClr val="002060"/>
                </a:solidFill>
              </a:rPr>
              <a:t>2. Create Relationships Between Tables</a:t>
            </a:r>
            <a:endParaRPr lang="en-IN" sz="2800" b="1" dirty="0">
              <a:solidFill>
                <a:srgbClr val="002060"/>
              </a:solidFill>
            </a:endParaRPr>
          </a:p>
        </p:txBody>
      </p:sp>
      <p:sp>
        <p:nvSpPr>
          <p:cNvPr id="6" name="TextBox 5">
            <a:extLst>
              <a:ext uri="{FF2B5EF4-FFF2-40B4-BE49-F238E27FC236}">
                <a16:creationId xmlns:a16="http://schemas.microsoft.com/office/drawing/2014/main" id="{B6D55D97-8B2F-43C7-99B2-948E7986E140}"/>
              </a:ext>
            </a:extLst>
          </p:cNvPr>
          <p:cNvSpPr txBox="1"/>
          <p:nvPr/>
        </p:nvSpPr>
        <p:spPr>
          <a:xfrm>
            <a:off x="0" y="4620545"/>
            <a:ext cx="12192000" cy="2369880"/>
          </a:xfrm>
          <a:prstGeom prst="rect">
            <a:avLst/>
          </a:prstGeom>
          <a:noFill/>
        </p:spPr>
        <p:txBody>
          <a:bodyPr wrap="square" rtlCol="0">
            <a:spAutoFit/>
          </a:bodyPr>
          <a:lstStyle/>
          <a:p>
            <a:pPr marL="342900" indent="-342900" algn="just">
              <a:buFont typeface="Wingdings" panose="05000000000000000000" pitchFamily="2" charset="2"/>
              <a:buChar char="v"/>
            </a:pPr>
            <a:r>
              <a:rPr lang="en-US" sz="2800" dirty="0">
                <a:latin typeface="Javanese Text" panose="02000000000000000000" pitchFamily="2" charset="0"/>
              </a:rPr>
              <a:t>Relationships are built on common columns containing matching values between tables.</a:t>
            </a:r>
          </a:p>
          <a:p>
            <a:pPr marL="342900" indent="-342900" algn="just">
              <a:buFont typeface="Wingdings" panose="05000000000000000000" pitchFamily="2" charset="2"/>
              <a:buChar char="v"/>
            </a:pPr>
            <a:r>
              <a:rPr lang="en-US" sz="2800" dirty="0">
                <a:solidFill>
                  <a:srgbClr val="000000"/>
                </a:solidFill>
                <a:latin typeface="Javanese Text" panose="02000000000000000000" pitchFamily="2" charset="0"/>
                <a:ea typeface="Koho"/>
                <a:cs typeface="Koho"/>
                <a:sym typeface="Koho"/>
              </a:rPr>
              <a:t>The model view snapshot with one/many relationship cardinality and cross-filter direction with single/both has been mapped accordingly.</a:t>
            </a:r>
          </a:p>
          <a:p>
            <a:pPr algn="just"/>
            <a:endParaRPr lang="en-US" dirty="0"/>
          </a:p>
          <a:p>
            <a:endParaRPr lang="en-IN" dirty="0"/>
          </a:p>
        </p:txBody>
      </p:sp>
    </p:spTree>
    <p:extLst>
      <p:ext uri="{BB962C8B-B14F-4D97-AF65-F5344CB8AC3E}">
        <p14:creationId xmlns:p14="http://schemas.microsoft.com/office/powerpoint/2010/main" val="3721541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B4EAD6-6D06-47A5-AA17-1E95E3A4CDCF}"/>
              </a:ext>
            </a:extLst>
          </p:cNvPr>
          <p:cNvPicPr>
            <a:picLocks noChangeAspect="1"/>
          </p:cNvPicPr>
          <p:nvPr/>
        </p:nvPicPr>
        <p:blipFill>
          <a:blip r:embed="rId2"/>
          <a:stretch>
            <a:fillRect/>
          </a:stretch>
        </p:blipFill>
        <p:spPr>
          <a:xfrm>
            <a:off x="0" y="3347"/>
            <a:ext cx="12192000" cy="6854653"/>
          </a:xfrm>
          <a:prstGeom prst="rect">
            <a:avLst/>
          </a:prstGeom>
        </p:spPr>
      </p:pic>
    </p:spTree>
    <p:extLst>
      <p:ext uri="{BB962C8B-B14F-4D97-AF65-F5344CB8AC3E}">
        <p14:creationId xmlns:p14="http://schemas.microsoft.com/office/powerpoint/2010/main" val="2903326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895FE8-79A2-4403-BC8B-4288BC933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5860"/>
            <a:ext cx="12192000" cy="6182140"/>
          </a:xfrm>
          <a:prstGeom prst="rect">
            <a:avLst/>
          </a:prstGeom>
        </p:spPr>
      </p:pic>
      <p:sp>
        <p:nvSpPr>
          <p:cNvPr id="4" name="TextBox 3">
            <a:extLst>
              <a:ext uri="{FF2B5EF4-FFF2-40B4-BE49-F238E27FC236}">
                <a16:creationId xmlns:a16="http://schemas.microsoft.com/office/drawing/2014/main" id="{EF3DAD7F-476B-4F8E-B18E-28F15C05F776}"/>
              </a:ext>
            </a:extLst>
          </p:cNvPr>
          <p:cNvSpPr txBox="1"/>
          <p:nvPr/>
        </p:nvSpPr>
        <p:spPr>
          <a:xfrm>
            <a:off x="2782956" y="152640"/>
            <a:ext cx="7540487" cy="523220"/>
          </a:xfrm>
          <a:prstGeom prst="rect">
            <a:avLst/>
          </a:prstGeom>
          <a:noFill/>
        </p:spPr>
        <p:txBody>
          <a:bodyPr wrap="square" rtlCol="0">
            <a:spAutoFit/>
          </a:bodyPr>
          <a:lstStyle/>
          <a:p>
            <a:r>
              <a:rPr lang="en-US" sz="2800" b="1" dirty="0">
                <a:solidFill>
                  <a:srgbClr val="002060"/>
                </a:solidFill>
              </a:rPr>
              <a:t>Power BI – Visualization &amp; Dashboarding</a:t>
            </a:r>
            <a:endParaRPr lang="en-IN" dirty="0"/>
          </a:p>
        </p:txBody>
      </p:sp>
    </p:spTree>
    <p:extLst>
      <p:ext uri="{BB962C8B-B14F-4D97-AF65-F5344CB8AC3E}">
        <p14:creationId xmlns:p14="http://schemas.microsoft.com/office/powerpoint/2010/main" val="1951639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010D-1127-49C4-8C69-863352C13FAE}"/>
              </a:ext>
            </a:extLst>
          </p:cNvPr>
          <p:cNvSpPr txBox="1"/>
          <p:nvPr/>
        </p:nvSpPr>
        <p:spPr>
          <a:xfrm>
            <a:off x="0" y="414255"/>
            <a:ext cx="4132369" cy="523220"/>
          </a:xfrm>
          <a:prstGeom prst="rect">
            <a:avLst/>
          </a:prstGeom>
          <a:noFill/>
        </p:spPr>
        <p:txBody>
          <a:bodyPr wrap="square" rtlCol="0">
            <a:spAutoFit/>
          </a:bodyPr>
          <a:lstStyle/>
          <a:p>
            <a:r>
              <a:rPr lang="en-IN" sz="2800" b="1" dirty="0">
                <a:solidFill>
                  <a:srgbClr val="002060"/>
                </a:solidFill>
              </a:rPr>
              <a:t>3. Sales Overview Report</a:t>
            </a:r>
          </a:p>
        </p:txBody>
      </p:sp>
      <p:sp>
        <p:nvSpPr>
          <p:cNvPr id="6" name="TextBox 5">
            <a:extLst>
              <a:ext uri="{FF2B5EF4-FFF2-40B4-BE49-F238E27FC236}">
                <a16:creationId xmlns:a16="http://schemas.microsoft.com/office/drawing/2014/main" id="{574FCEED-8383-4860-9EE9-41BCDF8CDDD0}"/>
              </a:ext>
            </a:extLst>
          </p:cNvPr>
          <p:cNvSpPr txBox="1"/>
          <p:nvPr/>
        </p:nvSpPr>
        <p:spPr>
          <a:xfrm>
            <a:off x="0" y="1047367"/>
            <a:ext cx="2888974" cy="461665"/>
          </a:xfrm>
          <a:prstGeom prst="rect">
            <a:avLst/>
          </a:prstGeom>
          <a:noFill/>
        </p:spPr>
        <p:txBody>
          <a:bodyPr wrap="square" rtlCol="0">
            <a:spAutoFit/>
          </a:bodyPr>
          <a:lstStyle/>
          <a:p>
            <a:r>
              <a:rPr lang="en-US" sz="2400" b="1" dirty="0">
                <a:solidFill>
                  <a:srgbClr val="002060"/>
                </a:solidFill>
              </a:rPr>
              <a:t>3(a). Sales over Time</a:t>
            </a:r>
          </a:p>
        </p:txBody>
      </p:sp>
      <p:pic>
        <p:nvPicPr>
          <p:cNvPr id="16" name="Picture 15">
            <a:extLst>
              <a:ext uri="{FF2B5EF4-FFF2-40B4-BE49-F238E27FC236}">
                <a16:creationId xmlns:a16="http://schemas.microsoft.com/office/drawing/2014/main" id="{EDA37CBE-7779-44FA-BD19-334D28E85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4999" y="2252498"/>
            <a:ext cx="362001" cy="2353003"/>
          </a:xfrm>
          <a:prstGeom prst="rect">
            <a:avLst/>
          </a:prstGeom>
        </p:spPr>
      </p:pic>
      <p:pic>
        <p:nvPicPr>
          <p:cNvPr id="18" name="Picture 17">
            <a:extLst>
              <a:ext uri="{FF2B5EF4-FFF2-40B4-BE49-F238E27FC236}">
                <a16:creationId xmlns:a16="http://schemas.microsoft.com/office/drawing/2014/main" id="{5333B1A4-D3A5-42F3-B7D7-6159783C7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2330" y="1249403"/>
            <a:ext cx="7129670" cy="4280452"/>
          </a:xfrm>
          <a:prstGeom prst="rect">
            <a:avLst/>
          </a:prstGeom>
        </p:spPr>
      </p:pic>
      <p:sp>
        <p:nvSpPr>
          <p:cNvPr id="5" name="TextBox 4">
            <a:extLst>
              <a:ext uri="{FF2B5EF4-FFF2-40B4-BE49-F238E27FC236}">
                <a16:creationId xmlns:a16="http://schemas.microsoft.com/office/drawing/2014/main" id="{76879456-14DB-4C89-A3BB-F9C2FB376A28}"/>
              </a:ext>
            </a:extLst>
          </p:cNvPr>
          <p:cNvSpPr txBox="1"/>
          <p:nvPr/>
        </p:nvSpPr>
        <p:spPr>
          <a:xfrm>
            <a:off x="0" y="1749287"/>
            <a:ext cx="5367130" cy="3416320"/>
          </a:xfrm>
          <a:prstGeom prst="rect">
            <a:avLst/>
          </a:prstGeom>
          <a:noFill/>
        </p:spPr>
        <p:txBody>
          <a:bodyPr wrap="square" rtlCol="0">
            <a:spAutoFit/>
          </a:bodyPr>
          <a:lstStyle/>
          <a:p>
            <a:pPr marL="285750" indent="-285750" algn="just">
              <a:buFont typeface="Wingdings" panose="05000000000000000000" pitchFamily="2" charset="2"/>
              <a:buChar char="v"/>
            </a:pPr>
            <a:r>
              <a:rPr lang="en-US" sz="2400" dirty="0"/>
              <a:t>The highest peak occurs around day 3 (35K) and another around day 20 (30K), showing periods of strong demand.   </a:t>
            </a:r>
          </a:p>
          <a:p>
            <a:pPr marL="285750" indent="-285750" algn="just">
              <a:buFont typeface="Wingdings" panose="05000000000000000000" pitchFamily="2" charset="2"/>
              <a:buChar char="v"/>
            </a:pPr>
            <a:endParaRPr lang="en-US" sz="2400" dirty="0"/>
          </a:p>
          <a:p>
            <a:pPr marL="285750" indent="-285750" algn="just">
              <a:buFont typeface="Wingdings" panose="05000000000000000000" pitchFamily="2" charset="2"/>
              <a:buChar char="v"/>
            </a:pPr>
            <a:r>
              <a:rPr lang="en-US" sz="2400" dirty="0"/>
              <a:t>The lowest point is near day 24 (3K), highlighting a sharp drop in sales.</a:t>
            </a:r>
          </a:p>
          <a:p>
            <a:pPr marL="285750" indent="-285750" algn="just">
              <a:buFont typeface="Wingdings" panose="05000000000000000000" pitchFamily="2" charset="2"/>
              <a:buChar char="v"/>
            </a:pPr>
            <a:endParaRPr lang="en-US" sz="2400" dirty="0"/>
          </a:p>
          <a:p>
            <a:pPr marL="285750" indent="-285750" algn="just">
              <a:buFont typeface="Wingdings" panose="05000000000000000000" pitchFamily="2" charset="2"/>
              <a:buChar char="v"/>
            </a:pPr>
            <a:r>
              <a:rPr lang="en-US" sz="2400" dirty="0"/>
              <a:t> Sales show high fluctuations instead of a stable trend.                             </a:t>
            </a:r>
            <a:endParaRPr lang="en-IN" sz="2400" dirty="0"/>
          </a:p>
        </p:txBody>
      </p:sp>
    </p:spTree>
    <p:extLst>
      <p:ext uri="{BB962C8B-B14F-4D97-AF65-F5344CB8AC3E}">
        <p14:creationId xmlns:p14="http://schemas.microsoft.com/office/powerpoint/2010/main" val="738985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FBA8D2-4303-4452-96E9-0C1BBCEF9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8836" y="940904"/>
            <a:ext cx="7103164" cy="4015409"/>
          </a:xfrm>
          <a:prstGeom prst="rect">
            <a:avLst/>
          </a:prstGeom>
        </p:spPr>
      </p:pic>
      <p:sp>
        <p:nvSpPr>
          <p:cNvPr id="5" name="TextBox 4">
            <a:extLst>
              <a:ext uri="{FF2B5EF4-FFF2-40B4-BE49-F238E27FC236}">
                <a16:creationId xmlns:a16="http://schemas.microsoft.com/office/drawing/2014/main" id="{C55FC0D6-2252-44C1-98FD-290854D4CA48}"/>
              </a:ext>
            </a:extLst>
          </p:cNvPr>
          <p:cNvSpPr txBox="1"/>
          <p:nvPr/>
        </p:nvSpPr>
        <p:spPr>
          <a:xfrm>
            <a:off x="205408" y="328353"/>
            <a:ext cx="4678018" cy="523220"/>
          </a:xfrm>
          <a:prstGeom prst="rect">
            <a:avLst/>
          </a:prstGeom>
          <a:noFill/>
        </p:spPr>
        <p:txBody>
          <a:bodyPr wrap="square" rtlCol="0">
            <a:spAutoFit/>
          </a:bodyPr>
          <a:lstStyle/>
          <a:p>
            <a:r>
              <a:rPr lang="en-IN" sz="2800" b="1" dirty="0">
                <a:solidFill>
                  <a:srgbClr val="002060"/>
                </a:solidFill>
              </a:rPr>
              <a:t>3(b).Monthly Sales Trend</a:t>
            </a:r>
          </a:p>
        </p:txBody>
      </p:sp>
      <p:sp>
        <p:nvSpPr>
          <p:cNvPr id="6" name="TextBox 5">
            <a:extLst>
              <a:ext uri="{FF2B5EF4-FFF2-40B4-BE49-F238E27FC236}">
                <a16:creationId xmlns:a16="http://schemas.microsoft.com/office/drawing/2014/main" id="{E9BCF02C-A424-4515-95AF-6860DB0E9C94}"/>
              </a:ext>
            </a:extLst>
          </p:cNvPr>
          <p:cNvSpPr txBox="1"/>
          <p:nvPr/>
        </p:nvSpPr>
        <p:spPr>
          <a:xfrm>
            <a:off x="0" y="1285461"/>
            <a:ext cx="5314122" cy="3046988"/>
          </a:xfrm>
          <a:prstGeom prst="rect">
            <a:avLst/>
          </a:prstGeom>
          <a:noFill/>
        </p:spPr>
        <p:txBody>
          <a:bodyPr wrap="square" rtlCol="0">
            <a:spAutoFit/>
          </a:bodyPr>
          <a:lstStyle/>
          <a:p>
            <a:pPr marL="285750" indent="-285750" algn="just">
              <a:buFont typeface="Wingdings" panose="05000000000000000000" pitchFamily="2" charset="2"/>
              <a:buChar char="v"/>
            </a:pPr>
            <a:r>
              <a:rPr lang="en-US" sz="2400" dirty="0">
                <a:solidFill>
                  <a:srgbClr val="000000"/>
                </a:solidFill>
                <a:ea typeface="Koho"/>
                <a:cs typeface="Koho"/>
                <a:sym typeface="Koho"/>
              </a:rPr>
              <a:t>The highest sales in terms of revenue happened during the month of </a:t>
            </a:r>
            <a:r>
              <a:rPr lang="en-US" sz="2400" dirty="0"/>
              <a:t>January (94K), then dropped in February (62K).</a:t>
            </a:r>
          </a:p>
          <a:p>
            <a:pPr algn="just"/>
            <a:endParaRPr lang="en-US" sz="2400" dirty="0"/>
          </a:p>
          <a:p>
            <a:pPr marL="285750" indent="-285750" algn="just">
              <a:buFont typeface="Wingdings" panose="05000000000000000000" pitchFamily="2" charset="2"/>
              <a:buChar char="v"/>
            </a:pPr>
            <a:r>
              <a:rPr lang="en-US" sz="2400" dirty="0"/>
              <a:t>A sharp decline appears in August (18K), the lowest point, indicating either seasonal slowdown or external factors affecting sales</a:t>
            </a:r>
            <a:r>
              <a:rPr lang="en-US" sz="2000" dirty="0"/>
              <a:t>.</a:t>
            </a:r>
            <a:endParaRPr lang="en-IN" sz="2000" dirty="0"/>
          </a:p>
        </p:txBody>
      </p:sp>
    </p:spTree>
    <p:extLst>
      <p:ext uri="{BB962C8B-B14F-4D97-AF65-F5344CB8AC3E}">
        <p14:creationId xmlns:p14="http://schemas.microsoft.com/office/powerpoint/2010/main" val="3325563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82CF5C-E24F-471B-BA4C-E3DC4F368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3878" y="874643"/>
            <a:ext cx="6838122" cy="4081670"/>
          </a:xfrm>
          <a:prstGeom prst="rect">
            <a:avLst/>
          </a:prstGeom>
        </p:spPr>
      </p:pic>
      <p:sp>
        <p:nvSpPr>
          <p:cNvPr id="5" name="TextBox 4">
            <a:extLst>
              <a:ext uri="{FF2B5EF4-FFF2-40B4-BE49-F238E27FC236}">
                <a16:creationId xmlns:a16="http://schemas.microsoft.com/office/drawing/2014/main" id="{36B81C02-B6EB-4ADF-81A9-4B2C06198ADB}"/>
              </a:ext>
            </a:extLst>
          </p:cNvPr>
          <p:cNvSpPr txBox="1"/>
          <p:nvPr/>
        </p:nvSpPr>
        <p:spPr>
          <a:xfrm>
            <a:off x="150958" y="581367"/>
            <a:ext cx="5102087" cy="523220"/>
          </a:xfrm>
          <a:prstGeom prst="rect">
            <a:avLst/>
          </a:prstGeom>
          <a:noFill/>
        </p:spPr>
        <p:txBody>
          <a:bodyPr wrap="square" rtlCol="0">
            <a:spAutoFit/>
          </a:bodyPr>
          <a:lstStyle/>
          <a:p>
            <a:r>
              <a:rPr lang="en-IN" sz="2800" b="1" dirty="0">
                <a:solidFill>
                  <a:srgbClr val="002060"/>
                </a:solidFill>
              </a:rPr>
              <a:t>3(c).Total orders placed</a:t>
            </a:r>
          </a:p>
        </p:txBody>
      </p:sp>
      <p:sp>
        <p:nvSpPr>
          <p:cNvPr id="6" name="TextBox 5">
            <a:extLst>
              <a:ext uri="{FF2B5EF4-FFF2-40B4-BE49-F238E27FC236}">
                <a16:creationId xmlns:a16="http://schemas.microsoft.com/office/drawing/2014/main" id="{3681BABF-A140-4113-9F83-40B6919C6C2E}"/>
              </a:ext>
            </a:extLst>
          </p:cNvPr>
          <p:cNvSpPr txBox="1"/>
          <p:nvPr/>
        </p:nvSpPr>
        <p:spPr>
          <a:xfrm>
            <a:off x="0" y="1428746"/>
            <a:ext cx="5406888" cy="2862322"/>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dirty="0"/>
              <a:t>The highest number of orders was placed in March (122 orders), showing peak customer activity.</a:t>
            </a:r>
          </a:p>
          <a:p>
            <a:pPr algn="just"/>
            <a:endParaRPr lang="en-US" sz="2000" dirty="0"/>
          </a:p>
          <a:p>
            <a:pPr marL="285750" indent="-285750" algn="just">
              <a:buFont typeface="Wingdings" panose="05000000000000000000" pitchFamily="2" charset="2"/>
              <a:buChar char="v"/>
            </a:pPr>
            <a:r>
              <a:rPr lang="en-US" sz="2000" dirty="0"/>
              <a:t>The lowest point occurs in November (43 orders), showing a significant slowdown.</a:t>
            </a:r>
          </a:p>
          <a:p>
            <a:pPr algn="just"/>
            <a:endParaRPr lang="en-US" sz="2000" dirty="0"/>
          </a:p>
          <a:p>
            <a:pPr marL="285750" indent="-285750" algn="just">
              <a:buFont typeface="Wingdings" panose="05000000000000000000" pitchFamily="2" charset="2"/>
              <a:buChar char="v"/>
            </a:pPr>
            <a:r>
              <a:rPr lang="en-US" sz="2000" dirty="0"/>
              <a:t>A small recovery is visible in December (55 orders), likely due to festive season demand.</a:t>
            </a:r>
            <a:endParaRPr lang="en-IN" sz="2000" dirty="0"/>
          </a:p>
        </p:txBody>
      </p:sp>
    </p:spTree>
    <p:extLst>
      <p:ext uri="{BB962C8B-B14F-4D97-AF65-F5344CB8AC3E}">
        <p14:creationId xmlns:p14="http://schemas.microsoft.com/office/powerpoint/2010/main" val="2384893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2AB85D-8D51-4A4D-840C-1150F645225D}"/>
              </a:ext>
            </a:extLst>
          </p:cNvPr>
          <p:cNvSpPr txBox="1"/>
          <p:nvPr/>
        </p:nvSpPr>
        <p:spPr>
          <a:xfrm>
            <a:off x="0" y="569843"/>
            <a:ext cx="4731026" cy="461665"/>
          </a:xfrm>
          <a:prstGeom prst="rect">
            <a:avLst/>
          </a:prstGeom>
          <a:noFill/>
        </p:spPr>
        <p:txBody>
          <a:bodyPr wrap="square" rtlCol="0">
            <a:spAutoFit/>
          </a:bodyPr>
          <a:lstStyle/>
          <a:p>
            <a:r>
              <a:rPr lang="en-US" sz="2400" b="1" dirty="0">
                <a:solidFill>
                  <a:srgbClr val="002060"/>
                </a:solidFill>
              </a:rPr>
              <a:t>4. Top Products by Sales</a:t>
            </a:r>
            <a:endParaRPr lang="en-IN" sz="2400" b="1" dirty="0">
              <a:solidFill>
                <a:srgbClr val="002060"/>
              </a:solidFill>
            </a:endParaRPr>
          </a:p>
        </p:txBody>
      </p:sp>
      <p:sp>
        <p:nvSpPr>
          <p:cNvPr id="3" name="TextBox 2">
            <a:extLst>
              <a:ext uri="{FF2B5EF4-FFF2-40B4-BE49-F238E27FC236}">
                <a16:creationId xmlns:a16="http://schemas.microsoft.com/office/drawing/2014/main" id="{17020B4E-A7FB-46DA-A2E2-8E19AEC8EFEE}"/>
              </a:ext>
            </a:extLst>
          </p:cNvPr>
          <p:cNvSpPr txBox="1"/>
          <p:nvPr/>
        </p:nvSpPr>
        <p:spPr>
          <a:xfrm>
            <a:off x="0" y="1364974"/>
            <a:ext cx="4980569" cy="3477875"/>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dirty="0">
                <a:solidFill>
                  <a:srgbClr val="000000"/>
                </a:solidFill>
                <a:ea typeface="Koho"/>
                <a:cs typeface="Koho"/>
                <a:sym typeface="Koho"/>
              </a:rPr>
              <a:t>The top selling product in terms of revenue is Trek Slash 8 27.5-2016 which is of 84k.</a:t>
            </a:r>
          </a:p>
          <a:p>
            <a:pPr algn="just"/>
            <a:endParaRPr lang="en-US" sz="2000" dirty="0"/>
          </a:p>
          <a:p>
            <a:pPr marL="285750" indent="-285750" algn="just">
              <a:buFont typeface="Wingdings" panose="05000000000000000000" pitchFamily="2" charset="2"/>
              <a:buChar char="v"/>
            </a:pPr>
            <a:r>
              <a:rPr lang="en-US" sz="2000" dirty="0"/>
              <a:t>Products like Surly Wednesday Frameset (18K) and Heller Shagamaw Frame (21K) are the lowest contributors.</a:t>
            </a:r>
          </a:p>
          <a:p>
            <a:pPr marL="285750" indent="-285750" algn="just">
              <a:buFont typeface="Wingdings" panose="05000000000000000000" pitchFamily="2" charset="2"/>
              <a:buChar char="v"/>
            </a:pPr>
            <a:endParaRPr lang="en-US" sz="2000" dirty="0"/>
          </a:p>
          <a:p>
            <a:pPr marL="285750" indent="-285750" algn="just">
              <a:buFont typeface="Wingdings" panose="05000000000000000000" pitchFamily="2" charset="2"/>
              <a:buChar char="v"/>
            </a:pPr>
            <a:r>
              <a:rPr lang="en-US" sz="2000" dirty="0"/>
              <a:t>Mid-range performers include Surly Straggler 650b (52K) and Trek Remedy 29 Carbon (45K), showing strong but not top-tier sales.</a:t>
            </a:r>
            <a:endParaRPr lang="en-IN" sz="2000" dirty="0"/>
          </a:p>
        </p:txBody>
      </p:sp>
      <p:pic>
        <p:nvPicPr>
          <p:cNvPr id="5" name="Picture 4">
            <a:extLst>
              <a:ext uri="{FF2B5EF4-FFF2-40B4-BE49-F238E27FC236}">
                <a16:creationId xmlns:a16="http://schemas.microsoft.com/office/drawing/2014/main" id="{945D8A7E-E1C2-4792-86EA-C6D92D4640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0569" y="1031508"/>
            <a:ext cx="7211431" cy="3811341"/>
          </a:xfrm>
          <a:prstGeom prst="rect">
            <a:avLst/>
          </a:prstGeom>
        </p:spPr>
      </p:pic>
    </p:spTree>
    <p:extLst>
      <p:ext uri="{BB962C8B-B14F-4D97-AF65-F5344CB8AC3E}">
        <p14:creationId xmlns:p14="http://schemas.microsoft.com/office/powerpoint/2010/main" val="455447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F355F4-05A5-43B4-8269-7EB430FE655F}"/>
              </a:ext>
            </a:extLst>
          </p:cNvPr>
          <p:cNvSpPr txBox="1"/>
          <p:nvPr/>
        </p:nvSpPr>
        <p:spPr>
          <a:xfrm>
            <a:off x="0" y="437322"/>
            <a:ext cx="4505739" cy="461665"/>
          </a:xfrm>
          <a:prstGeom prst="rect">
            <a:avLst/>
          </a:prstGeom>
          <a:noFill/>
        </p:spPr>
        <p:txBody>
          <a:bodyPr wrap="square" rtlCol="0">
            <a:spAutoFit/>
          </a:bodyPr>
          <a:lstStyle/>
          <a:p>
            <a:r>
              <a:rPr lang="en-IN" sz="2400" b="1" dirty="0">
                <a:solidFill>
                  <a:srgbClr val="002060"/>
                </a:solidFill>
              </a:rPr>
              <a:t>5. Customer Purchase Analysis</a:t>
            </a:r>
          </a:p>
        </p:txBody>
      </p:sp>
      <p:pic>
        <p:nvPicPr>
          <p:cNvPr id="4" name="Picture 3">
            <a:extLst>
              <a:ext uri="{FF2B5EF4-FFF2-40B4-BE49-F238E27FC236}">
                <a16:creationId xmlns:a16="http://schemas.microsoft.com/office/drawing/2014/main" id="{849BF949-4820-4EA8-9B78-FDEB5580C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9817" y="1031508"/>
            <a:ext cx="6969418" cy="3772861"/>
          </a:xfrm>
          <a:prstGeom prst="rect">
            <a:avLst/>
          </a:prstGeom>
        </p:spPr>
      </p:pic>
      <p:sp>
        <p:nvSpPr>
          <p:cNvPr id="5" name="TextBox 4">
            <a:extLst>
              <a:ext uri="{FF2B5EF4-FFF2-40B4-BE49-F238E27FC236}">
                <a16:creationId xmlns:a16="http://schemas.microsoft.com/office/drawing/2014/main" id="{8A13CF82-2434-4A22-A68F-6B8D56FE8BA7}"/>
              </a:ext>
            </a:extLst>
          </p:cNvPr>
          <p:cNvSpPr txBox="1"/>
          <p:nvPr/>
        </p:nvSpPr>
        <p:spPr>
          <a:xfrm>
            <a:off x="0" y="1388049"/>
            <a:ext cx="4691270" cy="4093428"/>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dirty="0">
                <a:latin typeface="Javanese Text" panose="02000000000000000000" pitchFamily="2" charset="0"/>
              </a:rPr>
              <a:t>The highest number of orders placed by the customers in the City named Mount Vernon and Scarsdale of 20 orders being the most. </a:t>
            </a:r>
          </a:p>
          <a:p>
            <a:pPr marL="285750" indent="-285750" algn="just">
              <a:buFont typeface="Wingdings" panose="05000000000000000000" pitchFamily="2" charset="2"/>
              <a:buChar char="v"/>
            </a:pPr>
            <a:endParaRPr lang="en-US" sz="2000" dirty="0">
              <a:latin typeface="Javanese Text" panose="02000000000000000000" pitchFamily="2" charset="0"/>
            </a:endParaRPr>
          </a:p>
          <a:p>
            <a:pPr marL="285750" indent="-285750" algn="just">
              <a:buFont typeface="Wingdings" panose="05000000000000000000" pitchFamily="2" charset="2"/>
              <a:buChar char="v"/>
            </a:pPr>
            <a:r>
              <a:rPr lang="en-US" sz="2000" dirty="0">
                <a:latin typeface="Javanese Text" panose="02000000000000000000" pitchFamily="2" charset="0"/>
              </a:rPr>
              <a:t>These both cities belong to the state NY.</a:t>
            </a:r>
          </a:p>
          <a:p>
            <a:pPr marL="285750" indent="-285750" algn="just">
              <a:buFont typeface="Wingdings" panose="05000000000000000000" pitchFamily="2" charset="2"/>
              <a:buChar char="v"/>
            </a:pPr>
            <a:endParaRPr lang="en-US" sz="2000" dirty="0">
              <a:latin typeface="Javanese Text" panose="02000000000000000000" pitchFamily="2" charset="0"/>
            </a:endParaRPr>
          </a:p>
          <a:p>
            <a:pPr marL="285750" indent="-285750" algn="just">
              <a:buFont typeface="Wingdings" panose="05000000000000000000" pitchFamily="2" charset="2"/>
              <a:buChar char="v"/>
            </a:pPr>
            <a:r>
              <a:rPr lang="en-US" sz="2000" dirty="0">
                <a:latin typeface="Javanese Text" panose="02000000000000000000" pitchFamily="2" charset="0"/>
              </a:rPr>
              <a:t>The least number of orders also placed from the same state NY with 3 different cities which is 1 order from each city. </a:t>
            </a:r>
            <a:r>
              <a:rPr lang="en-US" dirty="0">
                <a:latin typeface="Javanese Text" panose="02000000000000000000" pitchFamily="2" charset="0"/>
              </a:rPr>
              <a:t>Middle Village, Tonawanda and Westbury are the cities</a:t>
            </a:r>
            <a:endParaRPr lang="en-IN" sz="2000" dirty="0">
              <a:latin typeface="Javanese Text" panose="02000000000000000000" pitchFamily="2" charset="0"/>
            </a:endParaRPr>
          </a:p>
        </p:txBody>
      </p:sp>
    </p:spTree>
    <p:extLst>
      <p:ext uri="{BB962C8B-B14F-4D97-AF65-F5344CB8AC3E}">
        <p14:creationId xmlns:p14="http://schemas.microsoft.com/office/powerpoint/2010/main" val="3588355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68A7A2-07E2-4AA0-80C8-FF6C17F726F4}"/>
              </a:ext>
            </a:extLst>
          </p:cNvPr>
          <p:cNvSpPr txBox="1"/>
          <p:nvPr/>
        </p:nvSpPr>
        <p:spPr>
          <a:xfrm>
            <a:off x="0" y="477078"/>
            <a:ext cx="4837043" cy="523220"/>
          </a:xfrm>
          <a:prstGeom prst="rect">
            <a:avLst/>
          </a:prstGeom>
          <a:noFill/>
        </p:spPr>
        <p:txBody>
          <a:bodyPr wrap="square" rtlCol="0">
            <a:spAutoFit/>
          </a:bodyPr>
          <a:lstStyle/>
          <a:p>
            <a:r>
              <a:rPr lang="en-US" sz="2800" b="1" dirty="0">
                <a:solidFill>
                  <a:srgbClr val="002060"/>
                </a:solidFill>
                <a:latin typeface="Javanese Text" panose="02000000000000000000" pitchFamily="2" charset="0"/>
              </a:rPr>
              <a:t>6. Sales by Store Map</a:t>
            </a:r>
            <a:endParaRPr lang="en-IN" sz="2800" b="1" dirty="0">
              <a:solidFill>
                <a:srgbClr val="002060"/>
              </a:solidFill>
              <a:latin typeface="Javanese Text" panose="02000000000000000000" pitchFamily="2" charset="0"/>
            </a:endParaRPr>
          </a:p>
        </p:txBody>
      </p:sp>
      <p:pic>
        <p:nvPicPr>
          <p:cNvPr id="4" name="Picture 3">
            <a:extLst>
              <a:ext uri="{FF2B5EF4-FFF2-40B4-BE49-F238E27FC236}">
                <a16:creationId xmlns:a16="http://schemas.microsoft.com/office/drawing/2014/main" id="{6A19BF1C-C05A-487C-BC68-9851903B9E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106316"/>
            <a:ext cx="5690942" cy="4391638"/>
          </a:xfrm>
          <a:prstGeom prst="rect">
            <a:avLst/>
          </a:prstGeom>
        </p:spPr>
      </p:pic>
      <p:sp>
        <p:nvSpPr>
          <p:cNvPr id="3" name="TextBox 2">
            <a:extLst>
              <a:ext uri="{FF2B5EF4-FFF2-40B4-BE49-F238E27FC236}">
                <a16:creationId xmlns:a16="http://schemas.microsoft.com/office/drawing/2014/main" id="{241876D3-1200-4387-84E4-168FB7530281}"/>
              </a:ext>
            </a:extLst>
          </p:cNvPr>
          <p:cNvSpPr txBox="1"/>
          <p:nvPr/>
        </p:nvSpPr>
        <p:spPr>
          <a:xfrm>
            <a:off x="0" y="1311965"/>
            <a:ext cx="5963478" cy="3754874"/>
          </a:xfrm>
          <a:prstGeom prst="rect">
            <a:avLst/>
          </a:prstGeom>
          <a:noFill/>
        </p:spPr>
        <p:txBody>
          <a:bodyPr wrap="square" rtlCol="0">
            <a:spAutoFit/>
          </a:bodyPr>
          <a:lstStyle/>
          <a:p>
            <a:r>
              <a:rPr lang="en-IN" sz="2000" dirty="0">
                <a:solidFill>
                  <a:srgbClr val="002060"/>
                </a:solidFill>
              </a:rPr>
              <a:t>Top Performing Store:</a:t>
            </a:r>
          </a:p>
          <a:p>
            <a:pPr marL="285750" indent="-285750">
              <a:buFont typeface="Wingdings" panose="05000000000000000000" pitchFamily="2" charset="2"/>
              <a:buChar char="v"/>
            </a:pPr>
            <a:r>
              <a:rPr lang="en-US" sz="2000" dirty="0"/>
              <a:t>(NY) has the largest bubble on the map, meaning it generates the highest sales revenue.</a:t>
            </a:r>
          </a:p>
          <a:p>
            <a:endParaRPr lang="en-US" sz="2000" dirty="0"/>
          </a:p>
          <a:p>
            <a:r>
              <a:rPr lang="en-IN" sz="2000" dirty="0">
                <a:solidFill>
                  <a:srgbClr val="002060"/>
                </a:solidFill>
              </a:rPr>
              <a:t>Second Strongest Market:</a:t>
            </a:r>
          </a:p>
          <a:p>
            <a:pPr marL="285750" indent="-285750">
              <a:buFont typeface="Wingdings" panose="05000000000000000000" pitchFamily="2" charset="2"/>
              <a:buChar char="v"/>
            </a:pPr>
            <a:r>
              <a:rPr lang="en-US" sz="2000" dirty="0"/>
              <a:t>(CA) shows the next largest bubble, indicating it is the second-highest revenue </a:t>
            </a:r>
            <a:r>
              <a:rPr lang="en-IN" sz="2000" dirty="0"/>
              <a:t>contributor.</a:t>
            </a:r>
          </a:p>
          <a:p>
            <a:endParaRPr lang="en-US" sz="2000" dirty="0"/>
          </a:p>
          <a:p>
            <a:pPr marL="285750" indent="-285750">
              <a:buFont typeface="Wingdings" panose="05000000000000000000" pitchFamily="2" charset="2"/>
              <a:buChar char="v"/>
            </a:pPr>
            <a:r>
              <a:rPr lang="en-US" sz="2000" dirty="0"/>
              <a:t>(TX) has a medium-sized bubble, showing it contributes a moderate share of sales compared to NY and CA.</a:t>
            </a:r>
          </a:p>
          <a:p>
            <a:endParaRPr lang="en-IN" dirty="0"/>
          </a:p>
        </p:txBody>
      </p:sp>
    </p:spTree>
    <p:extLst>
      <p:ext uri="{BB962C8B-B14F-4D97-AF65-F5344CB8AC3E}">
        <p14:creationId xmlns:p14="http://schemas.microsoft.com/office/powerpoint/2010/main" val="3279809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140571-36BC-4F18-8A34-C66D2DF89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6947" y="3390894"/>
            <a:ext cx="38105" cy="76211"/>
          </a:xfrm>
          <a:prstGeom prst="rect">
            <a:avLst/>
          </a:prstGeom>
        </p:spPr>
      </p:pic>
      <p:pic>
        <p:nvPicPr>
          <p:cNvPr id="7" name="Picture 6">
            <a:extLst>
              <a:ext uri="{FF2B5EF4-FFF2-40B4-BE49-F238E27FC236}">
                <a16:creationId xmlns:a16="http://schemas.microsoft.com/office/drawing/2014/main" id="{11376C44-BDB9-47F3-8D95-69751CA135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8991" y="1070124"/>
            <a:ext cx="5973009" cy="5030778"/>
          </a:xfrm>
          <a:prstGeom prst="rect">
            <a:avLst/>
          </a:prstGeom>
        </p:spPr>
      </p:pic>
      <p:sp>
        <p:nvSpPr>
          <p:cNvPr id="8" name="TextBox 7">
            <a:extLst>
              <a:ext uri="{FF2B5EF4-FFF2-40B4-BE49-F238E27FC236}">
                <a16:creationId xmlns:a16="http://schemas.microsoft.com/office/drawing/2014/main" id="{8F6DE9AF-6463-483E-BCB2-2E9818987D1A}"/>
              </a:ext>
            </a:extLst>
          </p:cNvPr>
          <p:cNvSpPr txBox="1"/>
          <p:nvPr/>
        </p:nvSpPr>
        <p:spPr>
          <a:xfrm>
            <a:off x="0" y="344557"/>
            <a:ext cx="4929809" cy="523220"/>
          </a:xfrm>
          <a:prstGeom prst="rect">
            <a:avLst/>
          </a:prstGeom>
          <a:noFill/>
        </p:spPr>
        <p:txBody>
          <a:bodyPr wrap="square" rtlCol="0">
            <a:spAutoFit/>
          </a:bodyPr>
          <a:lstStyle/>
          <a:p>
            <a:r>
              <a:rPr lang="en-US" sz="2800" b="1" dirty="0">
                <a:solidFill>
                  <a:srgbClr val="002060"/>
                </a:solidFill>
                <a:latin typeface="Javanese Text" panose="02000000000000000000" pitchFamily="2" charset="0"/>
              </a:rPr>
              <a:t>7. Low Stock Alert Dashboard</a:t>
            </a:r>
            <a:endParaRPr lang="en-IN" sz="2800" b="1" dirty="0">
              <a:solidFill>
                <a:srgbClr val="002060"/>
              </a:solidFill>
              <a:latin typeface="Javanese Text" panose="02000000000000000000" pitchFamily="2" charset="0"/>
            </a:endParaRPr>
          </a:p>
        </p:txBody>
      </p:sp>
      <p:sp>
        <p:nvSpPr>
          <p:cNvPr id="9" name="TextBox 8">
            <a:extLst>
              <a:ext uri="{FF2B5EF4-FFF2-40B4-BE49-F238E27FC236}">
                <a16:creationId xmlns:a16="http://schemas.microsoft.com/office/drawing/2014/main" id="{88BD475D-6E74-466D-A1AF-AE149652673C}"/>
              </a:ext>
            </a:extLst>
          </p:cNvPr>
          <p:cNvSpPr txBox="1"/>
          <p:nvPr/>
        </p:nvSpPr>
        <p:spPr>
          <a:xfrm>
            <a:off x="0" y="1128158"/>
            <a:ext cx="5973008" cy="4247317"/>
          </a:xfrm>
          <a:prstGeom prst="rect">
            <a:avLst/>
          </a:prstGeom>
          <a:noFill/>
        </p:spPr>
        <p:txBody>
          <a:bodyPr wrap="square" rtlCol="0">
            <a:spAutoFit/>
          </a:bodyPr>
          <a:lstStyle/>
          <a:p>
            <a:pPr marL="457200" lvl="0" indent="-457200" algn="just" defTabSz="609630">
              <a:lnSpc>
                <a:spcPct val="150000"/>
              </a:lnSpc>
              <a:buFont typeface="Wingdings" panose="05000000000000000000" pitchFamily="2" charset="2"/>
              <a:buChar char="v"/>
              <a:defRPr/>
            </a:pPr>
            <a:r>
              <a:rPr lang="en-US" sz="2000" dirty="0">
                <a:solidFill>
                  <a:srgbClr val="000000"/>
                </a:solidFill>
                <a:latin typeface="Javanese Text" panose="02000000000000000000" pitchFamily="2" charset="0"/>
                <a:ea typeface="Koho"/>
                <a:cs typeface="Koho"/>
                <a:sym typeface="Koho"/>
              </a:rPr>
              <a:t>There are 355 products overall has a stock of  &lt;= 10 units. This is the count of each products in each stores overall. The same products would have been repeated in this count in different stores separately.</a:t>
            </a:r>
          </a:p>
          <a:p>
            <a:pPr marL="457200" lvl="0" indent="-457200" algn="just" defTabSz="609630">
              <a:lnSpc>
                <a:spcPct val="150000"/>
              </a:lnSpc>
              <a:buFont typeface="Wingdings" panose="05000000000000000000" pitchFamily="2" charset="2"/>
              <a:buChar char="v"/>
              <a:defRPr/>
            </a:pPr>
            <a:endParaRPr lang="en-US" sz="2000" dirty="0">
              <a:solidFill>
                <a:srgbClr val="000000"/>
              </a:solidFill>
              <a:latin typeface="Javanese Text" panose="02000000000000000000" pitchFamily="2" charset="0"/>
              <a:ea typeface="Koho"/>
              <a:cs typeface="Koho"/>
              <a:sym typeface="Koho"/>
            </a:endParaRPr>
          </a:p>
          <a:p>
            <a:pPr marL="457200" lvl="0" indent="-457200" algn="just" defTabSz="609630">
              <a:lnSpc>
                <a:spcPct val="150000"/>
              </a:lnSpc>
              <a:buFont typeface="Wingdings" panose="05000000000000000000" pitchFamily="2" charset="2"/>
              <a:buChar char="v"/>
              <a:defRPr/>
            </a:pPr>
            <a:r>
              <a:rPr lang="en-US" sz="2000" dirty="0">
                <a:solidFill>
                  <a:srgbClr val="000000"/>
                </a:solidFill>
                <a:latin typeface="Javanese Text" panose="02000000000000000000" pitchFamily="2" charset="0"/>
                <a:ea typeface="Koho"/>
                <a:cs typeface="Koho"/>
                <a:sym typeface="Koho"/>
              </a:rPr>
              <a:t>By merging the stocks of each products in all the 3 stores, it has been found that there are 3 products which has a stock of  &lt;= 10 units</a:t>
            </a:r>
            <a:endParaRPr lang="en-IN" sz="2000" dirty="0">
              <a:latin typeface="Javanese Text" panose="02000000000000000000" pitchFamily="2" charset="0"/>
            </a:endParaRPr>
          </a:p>
        </p:txBody>
      </p:sp>
    </p:spTree>
    <p:extLst>
      <p:ext uri="{BB962C8B-B14F-4D97-AF65-F5344CB8AC3E}">
        <p14:creationId xmlns:p14="http://schemas.microsoft.com/office/powerpoint/2010/main" val="3110703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D2B3B6-B191-456A-AF63-A073325AED0B}"/>
              </a:ext>
            </a:extLst>
          </p:cNvPr>
          <p:cNvSpPr txBox="1"/>
          <p:nvPr/>
        </p:nvSpPr>
        <p:spPr>
          <a:xfrm>
            <a:off x="0" y="609600"/>
            <a:ext cx="6215269" cy="523220"/>
          </a:xfrm>
          <a:prstGeom prst="rect">
            <a:avLst/>
          </a:prstGeom>
          <a:noFill/>
        </p:spPr>
        <p:txBody>
          <a:bodyPr wrap="square" rtlCol="0">
            <a:spAutoFit/>
          </a:bodyPr>
          <a:lstStyle/>
          <a:p>
            <a:r>
              <a:rPr lang="en-US" sz="2800" b="1" dirty="0">
                <a:solidFill>
                  <a:srgbClr val="002060"/>
                </a:solidFill>
                <a:latin typeface="Javanese Text" panose="02000000000000000000" pitchFamily="2" charset="0"/>
              </a:rPr>
              <a:t>8. Interactive Filters and Slicers</a:t>
            </a:r>
            <a:endParaRPr lang="en-IN" sz="2800" b="1" dirty="0">
              <a:solidFill>
                <a:srgbClr val="002060"/>
              </a:solidFill>
              <a:latin typeface="Javanese Text" panose="02000000000000000000" pitchFamily="2" charset="0"/>
            </a:endParaRPr>
          </a:p>
        </p:txBody>
      </p:sp>
      <p:pic>
        <p:nvPicPr>
          <p:cNvPr id="4" name="Picture 3">
            <a:extLst>
              <a:ext uri="{FF2B5EF4-FFF2-40B4-BE49-F238E27FC236}">
                <a16:creationId xmlns:a16="http://schemas.microsoft.com/office/drawing/2014/main" id="{2B5A45A2-12A0-4578-978A-46F061C11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1264829"/>
            <a:ext cx="6705600" cy="4473362"/>
          </a:xfrm>
          <a:prstGeom prst="rect">
            <a:avLst/>
          </a:prstGeom>
        </p:spPr>
      </p:pic>
      <p:sp>
        <p:nvSpPr>
          <p:cNvPr id="3" name="TextBox 2">
            <a:extLst>
              <a:ext uri="{FF2B5EF4-FFF2-40B4-BE49-F238E27FC236}">
                <a16:creationId xmlns:a16="http://schemas.microsoft.com/office/drawing/2014/main" id="{E3FA33F3-FAFD-4B66-B6AE-A879DBF78A5A}"/>
              </a:ext>
            </a:extLst>
          </p:cNvPr>
          <p:cNvSpPr txBox="1"/>
          <p:nvPr/>
        </p:nvSpPr>
        <p:spPr>
          <a:xfrm>
            <a:off x="0" y="1370846"/>
            <a:ext cx="5314122" cy="3785652"/>
          </a:xfrm>
          <a:prstGeom prst="rect">
            <a:avLst/>
          </a:prstGeom>
          <a:noFill/>
        </p:spPr>
        <p:txBody>
          <a:bodyPr wrap="square" rtlCol="0">
            <a:spAutoFit/>
          </a:bodyPr>
          <a:lstStyle/>
          <a:p>
            <a:pPr marL="457200" lvl="0" indent="-457200" defTabSz="609630">
              <a:lnSpc>
                <a:spcPct val="150000"/>
              </a:lnSpc>
              <a:buFont typeface="Wingdings" panose="05000000000000000000" pitchFamily="2" charset="2"/>
              <a:buChar char="v"/>
              <a:defRPr/>
            </a:pPr>
            <a:r>
              <a:rPr lang="en-US" sz="2000" dirty="0">
                <a:solidFill>
                  <a:srgbClr val="000000"/>
                </a:solidFill>
                <a:latin typeface="Javanese Text" panose="02000000000000000000" pitchFamily="2" charset="0"/>
                <a:ea typeface="Koho"/>
                <a:cs typeface="Koho"/>
                <a:sym typeface="Koho"/>
              </a:rPr>
              <a:t>This data shows the number of orders placed by each state where we could found that NY state has highest orders placed of 168 Followed by CA state with 112 and TX with 27 orders. </a:t>
            </a:r>
          </a:p>
          <a:p>
            <a:pPr marL="457200" lvl="0" indent="-457200" defTabSz="609630">
              <a:lnSpc>
                <a:spcPct val="150000"/>
              </a:lnSpc>
              <a:buFont typeface="Wingdings" panose="05000000000000000000" pitchFamily="2" charset="2"/>
              <a:buChar char="v"/>
              <a:defRPr/>
            </a:pPr>
            <a:r>
              <a:rPr lang="en-US" sz="2000" dirty="0">
                <a:solidFill>
                  <a:srgbClr val="000000"/>
                </a:solidFill>
                <a:latin typeface="Javanese Text" panose="02000000000000000000" pitchFamily="2" charset="0"/>
                <a:ea typeface="Koho"/>
                <a:cs typeface="Koho"/>
                <a:sym typeface="Koho"/>
              </a:rPr>
              <a:t>The interactive slicers has been created to filter through the order status, stores and Product categories in the Power BI</a:t>
            </a:r>
            <a:endParaRPr lang="en-IN" sz="2000" dirty="0">
              <a:latin typeface="Javanese Text" panose="02000000000000000000" pitchFamily="2" charset="0"/>
            </a:endParaRPr>
          </a:p>
        </p:txBody>
      </p:sp>
    </p:spTree>
    <p:extLst>
      <p:ext uri="{BB962C8B-B14F-4D97-AF65-F5344CB8AC3E}">
        <p14:creationId xmlns:p14="http://schemas.microsoft.com/office/powerpoint/2010/main" val="743921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A7A2C-AF24-4937-A47F-EAA3AE895F83}"/>
              </a:ext>
            </a:extLst>
          </p:cNvPr>
          <p:cNvSpPr txBox="1"/>
          <p:nvPr/>
        </p:nvSpPr>
        <p:spPr>
          <a:xfrm>
            <a:off x="0" y="289706"/>
            <a:ext cx="5499653" cy="523220"/>
          </a:xfrm>
          <a:prstGeom prst="rect">
            <a:avLst/>
          </a:prstGeom>
          <a:noFill/>
        </p:spPr>
        <p:txBody>
          <a:bodyPr wrap="square" rtlCol="0">
            <a:spAutoFit/>
          </a:bodyPr>
          <a:lstStyle/>
          <a:p>
            <a:r>
              <a:rPr lang="en-IN" sz="2800" b="1" dirty="0">
                <a:solidFill>
                  <a:srgbClr val="002060"/>
                </a:solidFill>
              </a:rPr>
              <a:t>9. Staff Performance Report</a:t>
            </a:r>
          </a:p>
        </p:txBody>
      </p:sp>
      <p:sp>
        <p:nvSpPr>
          <p:cNvPr id="3" name="TextBox 2">
            <a:extLst>
              <a:ext uri="{FF2B5EF4-FFF2-40B4-BE49-F238E27FC236}">
                <a16:creationId xmlns:a16="http://schemas.microsoft.com/office/drawing/2014/main" id="{BE0ADBFC-1DC5-491E-B822-67186A178E70}"/>
              </a:ext>
            </a:extLst>
          </p:cNvPr>
          <p:cNvSpPr txBox="1"/>
          <p:nvPr/>
        </p:nvSpPr>
        <p:spPr>
          <a:xfrm>
            <a:off x="0" y="1154049"/>
            <a:ext cx="5751442" cy="3600986"/>
          </a:xfrm>
          <a:prstGeom prst="rect">
            <a:avLst/>
          </a:prstGeom>
          <a:noFill/>
        </p:spPr>
        <p:txBody>
          <a:bodyPr wrap="square" rtlCol="0">
            <a:spAutoFit/>
          </a:bodyPr>
          <a:lstStyle/>
          <a:p>
            <a:pPr marL="457200" lvl="0" indent="-457200" algn="just" defTabSz="609630">
              <a:lnSpc>
                <a:spcPct val="150000"/>
              </a:lnSpc>
              <a:buFont typeface="Wingdings" panose="05000000000000000000" pitchFamily="2" charset="2"/>
              <a:buChar char="v"/>
              <a:defRPr/>
            </a:pPr>
            <a:r>
              <a:rPr lang="en-US" sz="2000" dirty="0">
                <a:solidFill>
                  <a:srgbClr val="000000"/>
                </a:solidFill>
                <a:ea typeface="Koho"/>
                <a:cs typeface="Koho"/>
                <a:sym typeface="Koho"/>
              </a:rPr>
              <a:t>The highest revenue generated by the Staffs is Staff Id 7 with 208k followed by Staff Id 6 with 170k.</a:t>
            </a:r>
          </a:p>
          <a:p>
            <a:pPr marL="457200" lvl="0" indent="-457200" algn="just" defTabSz="609630">
              <a:lnSpc>
                <a:spcPct val="150000"/>
              </a:lnSpc>
              <a:buFont typeface="Wingdings" panose="05000000000000000000" pitchFamily="2" charset="2"/>
              <a:buChar char="v"/>
              <a:defRPr/>
            </a:pPr>
            <a:r>
              <a:rPr lang="en-US" sz="2000" dirty="0">
                <a:solidFill>
                  <a:srgbClr val="000000"/>
                </a:solidFill>
                <a:ea typeface="Koho"/>
                <a:cs typeface="Koho"/>
                <a:sym typeface="Koho"/>
              </a:rPr>
              <a:t>The least revenue generated by the Staff Id 9 with 15k.</a:t>
            </a:r>
          </a:p>
          <a:p>
            <a:pPr marL="457200" lvl="0" indent="-457200" algn="just" defTabSz="609630">
              <a:lnSpc>
                <a:spcPct val="150000"/>
              </a:lnSpc>
              <a:buFont typeface="Wingdings" panose="05000000000000000000" pitchFamily="2" charset="2"/>
              <a:buChar char="v"/>
              <a:defRPr/>
            </a:pPr>
            <a:r>
              <a:rPr lang="en-US" sz="2000" dirty="0">
                <a:solidFill>
                  <a:srgbClr val="000000"/>
                </a:solidFill>
                <a:ea typeface="Koho"/>
                <a:cs typeface="Koho"/>
                <a:sym typeface="Koho"/>
              </a:rPr>
              <a:t>Staff IDs 2,3,8 and 10 have not handled any orders or generated any revenue</a:t>
            </a:r>
            <a:r>
              <a:rPr lang="en-US" sz="2000" dirty="0">
                <a:solidFill>
                  <a:srgbClr val="000000"/>
                </a:solidFill>
                <a:latin typeface="Javanese Text" panose="02000000000000000000" pitchFamily="2" charset="0"/>
                <a:ea typeface="Koho"/>
                <a:cs typeface="Koho"/>
                <a:sym typeface="Koho"/>
              </a:rPr>
              <a:t>.</a:t>
            </a:r>
          </a:p>
          <a:p>
            <a:endParaRPr lang="en-IN" dirty="0"/>
          </a:p>
        </p:txBody>
      </p:sp>
      <p:pic>
        <p:nvPicPr>
          <p:cNvPr id="6" name="Picture 5">
            <a:extLst>
              <a:ext uri="{FF2B5EF4-FFF2-40B4-BE49-F238E27FC236}">
                <a16:creationId xmlns:a16="http://schemas.microsoft.com/office/drawing/2014/main" id="{DFFD75F3-70E7-422A-AF46-F04F1EDF0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441" y="1154049"/>
            <a:ext cx="6407115" cy="4725059"/>
          </a:xfrm>
          <a:prstGeom prst="rect">
            <a:avLst/>
          </a:prstGeom>
        </p:spPr>
      </p:pic>
    </p:spTree>
    <p:extLst>
      <p:ext uri="{BB962C8B-B14F-4D97-AF65-F5344CB8AC3E}">
        <p14:creationId xmlns:p14="http://schemas.microsoft.com/office/powerpoint/2010/main" val="3536605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498F2C-6B93-4E65-9865-F9B492208C42}"/>
              </a:ext>
            </a:extLst>
          </p:cNvPr>
          <p:cNvSpPr txBox="1"/>
          <p:nvPr/>
        </p:nvSpPr>
        <p:spPr>
          <a:xfrm>
            <a:off x="132522" y="503583"/>
            <a:ext cx="4797287" cy="461665"/>
          </a:xfrm>
          <a:prstGeom prst="rect">
            <a:avLst/>
          </a:prstGeom>
          <a:noFill/>
        </p:spPr>
        <p:txBody>
          <a:bodyPr wrap="square" rtlCol="0">
            <a:spAutoFit/>
          </a:bodyPr>
          <a:lstStyle/>
          <a:p>
            <a:r>
              <a:rPr lang="en-IN" sz="2400" b="1" dirty="0">
                <a:solidFill>
                  <a:srgbClr val="002060"/>
                </a:solidFill>
              </a:rPr>
              <a:t>10.Consolidated Dashboard Page</a:t>
            </a:r>
          </a:p>
        </p:txBody>
      </p:sp>
      <p:pic>
        <p:nvPicPr>
          <p:cNvPr id="5" name="Picture 4">
            <a:extLst>
              <a:ext uri="{FF2B5EF4-FFF2-40B4-BE49-F238E27FC236}">
                <a16:creationId xmlns:a16="http://schemas.microsoft.com/office/drawing/2014/main" id="{F172F025-2C72-41F5-89B1-1C5B0C13A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985" y="1152398"/>
            <a:ext cx="5458587" cy="4791744"/>
          </a:xfrm>
          <a:prstGeom prst="rect">
            <a:avLst/>
          </a:prstGeom>
        </p:spPr>
      </p:pic>
      <p:sp>
        <p:nvSpPr>
          <p:cNvPr id="6" name="TextBox 5">
            <a:extLst>
              <a:ext uri="{FF2B5EF4-FFF2-40B4-BE49-F238E27FC236}">
                <a16:creationId xmlns:a16="http://schemas.microsoft.com/office/drawing/2014/main" id="{F57BF429-AE45-498A-AFB6-75DA23555EC6}"/>
              </a:ext>
            </a:extLst>
          </p:cNvPr>
          <p:cNvSpPr txBox="1"/>
          <p:nvPr/>
        </p:nvSpPr>
        <p:spPr>
          <a:xfrm>
            <a:off x="0" y="1311965"/>
            <a:ext cx="6440557" cy="4062651"/>
          </a:xfrm>
          <a:prstGeom prst="rect">
            <a:avLst/>
          </a:prstGeom>
          <a:noFill/>
        </p:spPr>
        <p:txBody>
          <a:bodyPr wrap="square" rtlCol="0">
            <a:spAutoFit/>
          </a:bodyPr>
          <a:lstStyle/>
          <a:p>
            <a:pPr marL="457200" lvl="0" indent="-457200" algn="just" defTabSz="609630">
              <a:lnSpc>
                <a:spcPct val="150000"/>
              </a:lnSpc>
              <a:buFont typeface="Wingdings" panose="05000000000000000000" pitchFamily="2" charset="2"/>
              <a:buChar char="v"/>
              <a:defRPr/>
            </a:pPr>
            <a:r>
              <a:rPr lang="en-US" sz="2000" dirty="0">
                <a:solidFill>
                  <a:srgbClr val="000000"/>
                </a:solidFill>
                <a:latin typeface="Koho"/>
                <a:ea typeface="Koho"/>
                <a:cs typeface="Koho"/>
                <a:sym typeface="Koho"/>
              </a:rPr>
              <a:t>The final consolidated dashboard page with KPI fields have been created.</a:t>
            </a:r>
          </a:p>
          <a:p>
            <a:pPr marL="457200" lvl="0" indent="-457200" algn="just" defTabSz="609630">
              <a:lnSpc>
                <a:spcPct val="150000"/>
              </a:lnSpc>
              <a:buFont typeface="Wingdings" panose="05000000000000000000" pitchFamily="2" charset="2"/>
              <a:buChar char="v"/>
              <a:defRPr/>
            </a:pPr>
            <a:r>
              <a:rPr lang="en-US" sz="2000" dirty="0">
                <a:solidFill>
                  <a:srgbClr val="000000"/>
                </a:solidFill>
                <a:latin typeface="Koho"/>
                <a:ea typeface="Koho"/>
                <a:cs typeface="Koho"/>
                <a:sym typeface="Koho"/>
              </a:rPr>
              <a:t>There are 983 active customers with the total revenue generated of 538.05K where their overall average order value is 538.01K for total orders of 357.</a:t>
            </a:r>
          </a:p>
          <a:p>
            <a:pPr marL="457200" lvl="0" indent="-457200" algn="just" defTabSz="609630">
              <a:lnSpc>
                <a:spcPct val="150000"/>
              </a:lnSpc>
              <a:buFont typeface="Wingdings" panose="05000000000000000000" pitchFamily="2" charset="2"/>
              <a:buChar char="v"/>
              <a:defRPr/>
            </a:pPr>
            <a:r>
              <a:rPr lang="en-US" sz="2000" dirty="0">
                <a:solidFill>
                  <a:srgbClr val="000000"/>
                </a:solidFill>
                <a:latin typeface="Koho"/>
                <a:ea typeface="Koho"/>
                <a:cs typeface="Koho"/>
                <a:sym typeface="Koho"/>
              </a:rPr>
              <a:t>The slicers created with order status, date, stores and categories to filter the data and to apply the KPI field values based on the requirement.</a:t>
            </a:r>
          </a:p>
          <a:p>
            <a:endParaRPr lang="en-IN" dirty="0"/>
          </a:p>
        </p:txBody>
      </p:sp>
    </p:spTree>
    <p:extLst>
      <p:ext uri="{BB962C8B-B14F-4D97-AF65-F5344CB8AC3E}">
        <p14:creationId xmlns:p14="http://schemas.microsoft.com/office/powerpoint/2010/main" val="3477743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2199D7-B404-458C-A2E5-4FDFB8832774}"/>
              </a:ext>
            </a:extLst>
          </p:cNvPr>
          <p:cNvSpPr txBox="1"/>
          <p:nvPr/>
        </p:nvSpPr>
        <p:spPr>
          <a:xfrm>
            <a:off x="4253946" y="2690192"/>
            <a:ext cx="5049079" cy="2154436"/>
          </a:xfrm>
          <a:prstGeom prst="rect">
            <a:avLst/>
          </a:prstGeom>
          <a:noFill/>
        </p:spPr>
        <p:txBody>
          <a:bodyPr wrap="square" rtlCol="0">
            <a:spAutoFit/>
          </a:bodyPr>
          <a:lstStyle/>
          <a:p>
            <a:r>
              <a:rPr lang="en-US" sz="4800" b="1" dirty="0">
                <a:solidFill>
                  <a:srgbClr val="000000"/>
                </a:solidFill>
                <a:latin typeface="Aileron Bold"/>
                <a:ea typeface="Aileron Bold"/>
                <a:cs typeface="Aileron Bold"/>
                <a:sym typeface="Aileron Bold"/>
              </a:rPr>
              <a:t>THANK YOU</a:t>
            </a:r>
          </a:p>
          <a:p>
            <a:r>
              <a:rPr lang="en-US" dirty="0"/>
              <a:t>                 </a:t>
            </a:r>
          </a:p>
          <a:p>
            <a:r>
              <a:rPr lang="en-US" dirty="0"/>
              <a:t>                   </a:t>
            </a:r>
            <a:r>
              <a:rPr lang="en-US" sz="3600" dirty="0"/>
              <a:t>Shalini</a:t>
            </a:r>
            <a:endParaRPr lang="en-US" sz="2800" dirty="0"/>
          </a:p>
          <a:p>
            <a:r>
              <a:rPr lang="en-US" sz="2800" dirty="0"/>
              <a:t>            </a:t>
            </a:r>
            <a:r>
              <a:rPr lang="en-US" sz="3200" dirty="0"/>
              <a:t>sunvikar02@gmail.com</a:t>
            </a:r>
            <a:endParaRPr lang="en-IN" sz="2800" dirty="0"/>
          </a:p>
        </p:txBody>
      </p:sp>
      <p:pic>
        <p:nvPicPr>
          <p:cNvPr id="5" name="Graphic 4" descr="Email with solid fill">
            <a:extLst>
              <a:ext uri="{FF2B5EF4-FFF2-40B4-BE49-F238E27FC236}">
                <a16:creationId xmlns:a16="http://schemas.microsoft.com/office/drawing/2014/main" id="{7E9970C7-1656-4A0A-8CFD-B4B1FC0877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9725" y="4197127"/>
            <a:ext cx="462835" cy="462835"/>
          </a:xfrm>
          <a:prstGeom prst="rect">
            <a:avLst/>
          </a:prstGeom>
        </p:spPr>
      </p:pic>
    </p:spTree>
    <p:extLst>
      <p:ext uri="{BB962C8B-B14F-4D97-AF65-F5344CB8AC3E}">
        <p14:creationId xmlns:p14="http://schemas.microsoft.com/office/powerpoint/2010/main" val="209300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5007</TotalTime>
  <Words>1936</Words>
  <Application>Microsoft Office PowerPoint</Application>
  <PresentationFormat>Widescreen</PresentationFormat>
  <Paragraphs>165</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Aileron Bold</vt:lpstr>
      <vt:lpstr>Arial</vt:lpstr>
      <vt:lpstr>Calibri</vt:lpstr>
      <vt:lpstr>Calibri Light</vt:lpstr>
      <vt:lpstr>Javanese Text</vt:lpstr>
      <vt:lpstr>Koho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139</cp:revision>
  <dcterms:created xsi:type="dcterms:W3CDTF">2025-08-14T17:26:09Z</dcterms:created>
  <dcterms:modified xsi:type="dcterms:W3CDTF">2025-10-19T13:59:38Z</dcterms:modified>
</cp:coreProperties>
</file>